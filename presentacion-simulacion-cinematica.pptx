
<file path=[Content_Types].xml><?xml version="1.0" encoding="utf-8"?>
<Types xmlns="http://schemas.openxmlformats.org/package/2006/content-types">
  <Default Extension="emf" ContentType="image/x-emf"/>
  <Default Extension="jpeg" ContentType="image/jpeg"/>
  <Default Extension="jpg" ContentType="image/jpeg"/>
  <Default Extension="mp4" ContentType="video/mp4"/>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13" r:id="rId1"/>
  </p:sldMasterIdLst>
  <p:sldIdLst>
    <p:sldId id="256" r:id="rId2"/>
    <p:sldId id="257" r:id="rId3"/>
    <p:sldId id="258" r:id="rId4"/>
    <p:sldId id="259" r:id="rId5"/>
    <p:sldId id="294" r:id="rId6"/>
    <p:sldId id="260" r:id="rId7"/>
    <p:sldId id="261" r:id="rId8"/>
    <p:sldId id="262" r:id="rId9"/>
    <p:sldId id="295" r:id="rId10"/>
    <p:sldId id="263" r:id="rId11"/>
    <p:sldId id="264" r:id="rId12"/>
    <p:sldId id="293" r:id="rId13"/>
    <p:sldId id="300" r:id="rId14"/>
    <p:sldId id="266" r:id="rId15"/>
    <p:sldId id="274" r:id="rId16"/>
    <p:sldId id="297" r:id="rId17"/>
    <p:sldId id="269" r:id="rId18"/>
    <p:sldId id="298" r:id="rId19"/>
    <p:sldId id="299" r:id="rId20"/>
    <p:sldId id="272" r:id="rId21"/>
    <p:sldId id="276" r:id="rId22"/>
    <p:sldId id="278" r:id="rId23"/>
    <p:sldId id="280" r:id="rId24"/>
    <p:sldId id="281" r:id="rId25"/>
    <p:sldId id="282" r:id="rId26"/>
    <p:sldId id="284" r:id="rId27"/>
    <p:sldId id="285" r:id="rId28"/>
    <p:sldId id="292" r:id="rId29"/>
    <p:sldId id="288" r:id="rId30"/>
    <p:sldId id="291" r:id="rId31"/>
    <p:sldId id="289" r:id="rId32"/>
    <p:sldId id="290" r:id="rId3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14" autoAdjust="0"/>
    <p:restoredTop sz="94660"/>
  </p:normalViewPr>
  <p:slideViewPr>
    <p:cSldViewPr snapToGrid="0">
      <p:cViewPr varScale="1">
        <p:scale>
          <a:sx n="81" d="100"/>
          <a:sy n="81" d="100"/>
        </p:scale>
        <p:origin x="834" y="9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editar el estilo de subtítulo del patrón</a:t>
            </a:r>
            <a:endParaRPr lang="en-US" dirty="0"/>
          </a:p>
        </p:txBody>
      </p:sp>
      <p:sp>
        <p:nvSpPr>
          <p:cNvPr id="4" name="Date Placeholder 3"/>
          <p:cNvSpPr>
            <a:spLocks noGrp="1"/>
          </p:cNvSpPr>
          <p:nvPr>
            <p:ph type="dt" sz="half" idx="10"/>
          </p:nvPr>
        </p:nvSpPr>
        <p:spPr>
          <a:xfrm>
            <a:off x="7983232" y="5037663"/>
            <a:ext cx="897467" cy="279400"/>
          </a:xfrm>
        </p:spPr>
        <p:txBody>
          <a:bodyPr/>
          <a:lstStyle/>
          <a:p>
            <a:fld id="{4AAD347D-5ACD-4C99-B74B-A9C85AD731AF}" type="datetimeFigureOut">
              <a:rPr lang="en-US" smtClean="0"/>
              <a:t>10/13/2026</a:t>
            </a:fld>
            <a:endParaRPr lang="en-US" dirty="0"/>
          </a:p>
        </p:txBody>
      </p:sp>
      <p:sp>
        <p:nvSpPr>
          <p:cNvPr id="5" name="Footer Placeholder 4"/>
          <p:cNvSpPr>
            <a:spLocks noGrp="1"/>
          </p:cNvSpPr>
          <p:nvPr>
            <p:ph type="ftr" sz="quarter" idx="11"/>
          </p:nvPr>
        </p:nvSpPr>
        <p:spPr>
          <a:xfrm>
            <a:off x="2692397" y="5037663"/>
            <a:ext cx="5214635" cy="279400"/>
          </a:xfrm>
        </p:spPr>
        <p:txBody>
          <a:bodyPr/>
          <a:lstStyle/>
          <a:p>
            <a:endParaRPr lang="en-US" dirty="0"/>
          </a:p>
        </p:txBody>
      </p:sp>
      <p:sp>
        <p:nvSpPr>
          <p:cNvPr id="6" name="Slide Number Placeholder 5"/>
          <p:cNvSpPr>
            <a:spLocks noGrp="1"/>
          </p:cNvSpPr>
          <p:nvPr>
            <p:ph type="sldNum" sz="quarter" idx="12"/>
          </p:nvPr>
        </p:nvSpPr>
        <p:spPr>
          <a:xfrm>
            <a:off x="8956900" y="5037663"/>
            <a:ext cx="551167" cy="279400"/>
          </a:xfrm>
        </p:spPr>
        <p:txBody>
          <a:bodyPr/>
          <a:lstStyle/>
          <a:p>
            <a:fld id="{D57F1E4F-1CFF-5643-939E-02111984F565}" type="slidenum">
              <a:rPr lang="en-US" smtClean="0"/>
              <a:t>‹Nº›</a:t>
            </a:fld>
            <a:endParaRPr lang="en-US" dirty="0"/>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0900249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smtClean="0"/>
              <a:t>10/13/2026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‹Nº›</a:t>
            </a:fld>
            <a:endParaRPr lang="en-US" dirty="0"/>
          </a:p>
        </p:txBody>
      </p:sp>
    </p:spTree>
    <p:extLst>
      <p:ext uri="{BB962C8B-B14F-4D97-AF65-F5344CB8AC3E}">
        <p14:creationId xmlns:p14="http://schemas.microsoft.com/office/powerpoint/2010/main" val="14581495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Editar el estilo de texto del patrón</a:t>
            </a:r>
          </a:p>
        </p:txBody>
      </p:sp>
      <p:sp>
        <p:nvSpPr>
          <p:cNvPr id="4" name="Date Placeholder 3"/>
          <p:cNvSpPr>
            <a:spLocks noGrp="1"/>
          </p:cNvSpPr>
          <p:nvPr>
            <p:ph type="dt" sz="half" idx="10"/>
          </p:nvPr>
        </p:nvSpPr>
        <p:spPr/>
        <p:txBody>
          <a:bodyPr/>
          <a:lstStyle/>
          <a:p>
            <a:fld id="{9796027F-7875-4030-9381-8BD8C4F21935}" type="datetimeFigureOut">
              <a:rPr lang="en-US" smtClean="0"/>
              <a:t>10/13/2026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‹Nº›</a:t>
            </a:fld>
            <a:endParaRPr lang="en-US" dirty="0"/>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168851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9796027F-7875-4030-9381-8BD8C4F21935}" type="datetimeFigureOut">
              <a:rPr lang="en-US" smtClean="0"/>
              <a:t>10/13/2026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‹Nº›</a:t>
            </a:fld>
            <a:endParaRPr lang="en-US" dirty="0"/>
          </a:p>
        </p:txBody>
      </p:sp>
    </p:spTree>
    <p:extLst>
      <p:ext uri="{BB962C8B-B14F-4D97-AF65-F5344CB8AC3E}">
        <p14:creationId xmlns:p14="http://schemas.microsoft.com/office/powerpoint/2010/main" val="40508081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9796027F-7875-4030-9381-8BD8C4F21935}" type="datetimeFigureOut">
              <a:rPr lang="en-US" smtClean="0"/>
              <a:t>10/13/2026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02111984F565}" type="slidenum">
              <a:rPr lang="en-US" smtClean="0"/>
              <a:t>‹Nº›</a:t>
            </a:fld>
            <a:endParaRPr lang="en-US" dirty="0"/>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0051597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4509A250-FF31-4206-8172-F9D3106AACB1}" type="datetimeFigureOut">
              <a:rPr lang="en-US" smtClean="0"/>
              <a:t>10/13/2026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02111984F565}" type="slidenum">
              <a:rPr lang="en-US" smtClean="0"/>
              <a:t>‹Nº›</a:t>
            </a:fld>
            <a:endParaRPr lang="en-US" dirty="0"/>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358128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509A250-FF31-4206-8172-F9D3106AACB1}" type="datetimeFigureOut">
              <a:rPr lang="en-US" smtClean="0"/>
              <a:t>10/13/2026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02111984F565}" type="slidenum">
              <a:rPr lang="en-US" smtClean="0"/>
              <a:t>‹Nº›</a:t>
            </a:fld>
            <a:endParaRPr lang="en-US" dirty="0"/>
          </a:p>
        </p:txBody>
      </p:sp>
    </p:spTree>
    <p:extLst>
      <p:ext uri="{BB962C8B-B14F-4D97-AF65-F5344CB8AC3E}">
        <p14:creationId xmlns:p14="http://schemas.microsoft.com/office/powerpoint/2010/main" val="33889573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s-ES"/>
              <a:t>Haga clic para modificar el estilo de título del patrón</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Editar el estilo de texto del patrón</a:t>
            </a:r>
          </a:p>
        </p:txBody>
      </p:sp>
      <p:sp>
        <p:nvSpPr>
          <p:cNvPr id="5" name="Date Placeholder 4"/>
          <p:cNvSpPr>
            <a:spLocks noGrp="1"/>
          </p:cNvSpPr>
          <p:nvPr>
            <p:ph type="dt" sz="half" idx="10"/>
          </p:nvPr>
        </p:nvSpPr>
        <p:spPr/>
        <p:txBody>
          <a:bodyPr/>
          <a:lstStyle/>
          <a:p>
            <a:fld id="{4509A250-FF31-4206-8172-F9D3106AACB1}" type="datetimeFigureOut">
              <a:rPr lang="en-US" smtClean="0"/>
              <a:t>10/13/2026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‹Nº›</a:t>
            </a:fld>
            <a:endParaRPr lang="en-US" dirty="0"/>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721986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s-ES"/>
              <a:t>Haga clic para modificar el estilo de título del patrón</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Editar el estilo de texto del patrón</a:t>
            </a:r>
          </a:p>
        </p:txBody>
      </p:sp>
      <p:sp>
        <p:nvSpPr>
          <p:cNvPr id="5" name="Date Placeholder 4"/>
          <p:cNvSpPr>
            <a:spLocks noGrp="1"/>
          </p:cNvSpPr>
          <p:nvPr>
            <p:ph type="dt" sz="half" idx="10"/>
          </p:nvPr>
        </p:nvSpPr>
        <p:spPr/>
        <p:txBody>
          <a:bodyPr/>
          <a:lstStyle/>
          <a:p>
            <a:fld id="{4509A250-FF31-4206-8172-F9D3106AACB1}" type="datetimeFigureOut">
              <a:rPr lang="en-US" smtClean="0"/>
              <a:t>10/13/2026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‹Nº›</a:t>
            </a:fld>
            <a:endParaRPr lang="en-US" dirty="0"/>
          </a:p>
        </p:txBody>
      </p:sp>
    </p:spTree>
    <p:extLst>
      <p:ext uri="{BB962C8B-B14F-4D97-AF65-F5344CB8AC3E}">
        <p14:creationId xmlns:p14="http://schemas.microsoft.com/office/powerpoint/2010/main" val="15578560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agen panorámic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Editar el estilo de texto del patrón</a:t>
            </a:r>
          </a:p>
        </p:txBody>
      </p:sp>
      <p:sp>
        <p:nvSpPr>
          <p:cNvPr id="5" name="Date Placeholder 4"/>
          <p:cNvSpPr>
            <a:spLocks noGrp="1"/>
          </p:cNvSpPr>
          <p:nvPr>
            <p:ph type="dt" sz="half" idx="10"/>
          </p:nvPr>
        </p:nvSpPr>
        <p:spPr/>
        <p:txBody>
          <a:bodyPr/>
          <a:lstStyle/>
          <a:p>
            <a:fld id="{4AAD347D-5ACD-4C99-B74B-A9C85AD731AF}" type="datetimeFigureOut">
              <a:rPr lang="en-US" smtClean="0"/>
              <a:t>10/13/2026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‹Nº›</a:t>
            </a:fld>
            <a:endParaRPr lang="en-US" dirty="0"/>
          </a:p>
        </p:txBody>
      </p:sp>
    </p:spTree>
    <p:extLst>
      <p:ext uri="{BB962C8B-B14F-4D97-AF65-F5344CB8AC3E}">
        <p14:creationId xmlns:p14="http://schemas.microsoft.com/office/powerpoint/2010/main" val="3259590209"/>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Editar el estilo de texto del patrón</a:t>
            </a:r>
          </a:p>
        </p:txBody>
      </p:sp>
      <p:sp>
        <p:nvSpPr>
          <p:cNvPr id="4" name="Date Placeholder 3"/>
          <p:cNvSpPr>
            <a:spLocks noGrp="1"/>
          </p:cNvSpPr>
          <p:nvPr>
            <p:ph type="dt" sz="half" idx="10"/>
          </p:nvPr>
        </p:nvSpPr>
        <p:spPr/>
        <p:txBody>
          <a:bodyPr/>
          <a:lstStyle/>
          <a:p>
            <a:fld id="{4AAD347D-5ACD-4C99-B74B-A9C85AD731AF}" type="datetimeFigureOut">
              <a:rPr lang="en-US" smtClean="0"/>
              <a:t>10/13/2026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‹Nº›</a:t>
            </a:fld>
            <a:endParaRPr lang="en-US" dirty="0"/>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06846476"/>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s-ES"/>
              <a:t>Haga clic para modificar el estilo de título del patrón</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Editar el estilo de texto del patrón</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Editar el estilo de texto del patrón</a:t>
            </a:r>
          </a:p>
        </p:txBody>
      </p:sp>
      <p:sp>
        <p:nvSpPr>
          <p:cNvPr id="4" name="Date Placeholder 3"/>
          <p:cNvSpPr>
            <a:spLocks noGrp="1"/>
          </p:cNvSpPr>
          <p:nvPr>
            <p:ph type="dt" sz="half" idx="10"/>
          </p:nvPr>
        </p:nvSpPr>
        <p:spPr/>
        <p:txBody>
          <a:bodyPr/>
          <a:lstStyle/>
          <a:p>
            <a:fld id="{4AAD347D-5ACD-4C99-B74B-A9C85AD731AF}" type="datetimeFigureOut">
              <a:rPr lang="en-US" smtClean="0"/>
              <a:t>10/13/2026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‹Nº›</a:t>
            </a:fld>
            <a:endParaRPr lang="en-US" dirty="0"/>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47566127"/>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Editar el estilo de texto del patrón</a:t>
            </a:r>
          </a:p>
        </p:txBody>
      </p:sp>
      <p:sp>
        <p:nvSpPr>
          <p:cNvPr id="4" name="Date Placeholder 3"/>
          <p:cNvSpPr>
            <a:spLocks noGrp="1"/>
          </p:cNvSpPr>
          <p:nvPr>
            <p:ph type="dt" sz="half" idx="10"/>
          </p:nvPr>
        </p:nvSpPr>
        <p:spPr/>
        <p:txBody>
          <a:bodyPr/>
          <a:lstStyle/>
          <a:p>
            <a:fld id="{4AAD347D-5ACD-4C99-B74B-A9C85AD731AF}" type="datetimeFigureOut">
              <a:rPr lang="en-US" smtClean="0"/>
              <a:t>10/13/2026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‹Nº›</a:t>
            </a:fld>
            <a:endParaRPr lang="en-US" dirty="0"/>
          </a:p>
        </p:txBody>
      </p:sp>
    </p:spTree>
    <p:extLst>
      <p:ext uri="{BB962C8B-B14F-4D97-AF65-F5344CB8AC3E}">
        <p14:creationId xmlns:p14="http://schemas.microsoft.com/office/powerpoint/2010/main" val="3316740773"/>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itar la 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s-ES"/>
              <a:t>Haga clic para modificar el estilo de título del patrón</a:t>
            </a:r>
            <a:endParaRPr lang="en-US" dirty="0"/>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Editar el estilo de texto del patrón</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Editar el estilo de texto del patrón</a:t>
            </a:r>
          </a:p>
        </p:txBody>
      </p:sp>
      <p:sp>
        <p:nvSpPr>
          <p:cNvPr id="4" name="Date Placeholder 3"/>
          <p:cNvSpPr>
            <a:spLocks noGrp="1"/>
          </p:cNvSpPr>
          <p:nvPr>
            <p:ph type="dt" sz="half" idx="10"/>
          </p:nvPr>
        </p:nvSpPr>
        <p:spPr/>
        <p:txBody>
          <a:bodyPr/>
          <a:lstStyle/>
          <a:p>
            <a:fld id="{4AAD347D-5ACD-4C99-B74B-A9C85AD731AF}" type="datetimeFigureOut">
              <a:rPr lang="en-US" smtClean="0"/>
              <a:t>10/13/2026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‹Nº›</a:t>
            </a:fld>
            <a:endParaRPr lang="en-US" dirty="0"/>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65605647"/>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Verdadero o falso">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s-ES"/>
              <a:t>Haga clic para modificar el estilo de título del patrón</a:t>
            </a:r>
            <a:endParaRPr lang="en-US" dirty="0"/>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Editar el estilo de texto del patrón</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Editar el estilo de texto del patrón</a:t>
            </a:r>
          </a:p>
        </p:txBody>
      </p:sp>
      <p:sp>
        <p:nvSpPr>
          <p:cNvPr id="4" name="Date Placeholder 3"/>
          <p:cNvSpPr>
            <a:spLocks noGrp="1"/>
          </p:cNvSpPr>
          <p:nvPr>
            <p:ph type="dt" sz="half" idx="10"/>
          </p:nvPr>
        </p:nvSpPr>
        <p:spPr/>
        <p:txBody>
          <a:bodyPr/>
          <a:lstStyle/>
          <a:p>
            <a:fld id="{4AAD347D-5ACD-4C99-B74B-A9C85AD731AF}" type="datetimeFigureOut">
              <a:rPr lang="en-US" smtClean="0"/>
              <a:t>10/13/2026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‹Nº›</a:t>
            </a:fld>
            <a:endParaRPr lang="en-US" dirty="0"/>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249955756"/>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nchor="t"/>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smtClean="0"/>
              <a:t>10/13/2026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‹Nº›</a:t>
            </a:fld>
            <a:endParaRPr lang="en-US" dirty="0"/>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11492445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smtClean="0"/>
              <a:t>10/13/2026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‹Nº›</a:t>
            </a:fld>
            <a:endParaRPr lang="en-US" dirty="0"/>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8097473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4AAD347D-5ACD-4C99-B74B-A9C85AD731AF}" type="datetimeFigureOut">
              <a:rPr lang="en-US" smtClean="0"/>
              <a:t>10/13/2026</a:t>
            </a:fld>
            <a:endParaRPr lang="en-US" dirty="0"/>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dirty="0"/>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D57F1E4F-1CFF-5643-939E-02111984F565}" type="slidenum">
              <a:rPr lang="en-US" smtClean="0"/>
              <a:t>‹Nº›</a:t>
            </a:fld>
            <a:endParaRPr lang="en-US" dirty="0"/>
          </a:p>
        </p:txBody>
      </p:sp>
    </p:spTree>
    <p:extLst>
      <p:ext uri="{BB962C8B-B14F-4D97-AF65-F5344CB8AC3E}">
        <p14:creationId xmlns:p14="http://schemas.microsoft.com/office/powerpoint/2010/main" val="1729398150"/>
      </p:ext>
    </p:extLst>
  </p:cSld>
  <p:clrMap bg1="lt1" tx1="dk1" bg2="lt2" tx2="dk2" accent1="accent1" accent2="accent2" accent3="accent3" accent4="accent4" accent5="accent5" accent6="accent6" hlink="hlink" folHlink="folHlink"/>
  <p:sldLayoutIdLst>
    <p:sldLayoutId id="2147483714" r:id="rId1"/>
    <p:sldLayoutId id="2147483715" r:id="rId2"/>
    <p:sldLayoutId id="2147483716" r:id="rId3"/>
    <p:sldLayoutId id="2147483717" r:id="rId4"/>
    <p:sldLayoutId id="2147483718" r:id="rId5"/>
    <p:sldLayoutId id="2147483719" r:id="rId6"/>
    <p:sldLayoutId id="2147483720" r:id="rId7"/>
    <p:sldLayoutId id="2147483721" r:id="rId8"/>
    <p:sldLayoutId id="2147483722" r:id="rId9"/>
    <p:sldLayoutId id="2147483723" r:id="rId10"/>
    <p:sldLayoutId id="2147483724" r:id="rId11"/>
    <p:sldLayoutId id="2147483725" r:id="rId12"/>
    <p:sldLayoutId id="2147483726" r:id="rId13"/>
    <p:sldLayoutId id="2147483727" r:id="rId14"/>
    <p:sldLayoutId id="2147483728" r:id="rId15"/>
    <p:sldLayoutId id="2147483729" r:id="rId16"/>
    <p:sldLayoutId id="2147483730" r:id="rId17"/>
  </p:sldLayoutIdLst>
  <p:hf sldNum="0" hdr="0" ftr="0" dt="0"/>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image" Target="../media/image7.png"/><Relationship Id="rId1" Type="http://schemas.openxmlformats.org/officeDocument/2006/relationships/slideLayout" Target="../slideLayouts/slideLayout4.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7.xml"/><Relationship Id="rId4" Type="http://schemas.openxmlformats.org/officeDocument/2006/relationships/image" Target="../media/image18.png"/></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1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7.xml"/><Relationship Id="rId5" Type="http://schemas.openxmlformats.org/officeDocument/2006/relationships/image" Target="../media/image25.png"/><Relationship Id="rId4" Type="http://schemas.openxmlformats.org/officeDocument/2006/relationships/image" Target="../media/image24.png"/></Relationships>
</file>

<file path=ppt/slides/_rels/slide1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 Id="rId5" Type="http://schemas.openxmlformats.org/officeDocument/2006/relationships/image" Target="../media/image29.png"/><Relationship Id="rId4" Type="http://schemas.openxmlformats.org/officeDocument/2006/relationships/image" Target="../media/image28.png"/></Relationships>
</file>

<file path=ppt/slides/_rels/slide1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7.xml"/><Relationship Id="rId5" Type="http://schemas.openxmlformats.org/officeDocument/2006/relationships/image" Target="../media/image35.jpg"/><Relationship Id="rId4" Type="http://schemas.openxmlformats.org/officeDocument/2006/relationships/image" Target="../media/image3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38.png"/><Relationship Id="rId4" Type="http://schemas.openxmlformats.org/officeDocument/2006/relationships/image" Target="../media/image37.png"/></Relationships>
</file>

<file path=ppt/slides/_rels/slide25.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7.xml"/><Relationship Id="rId4" Type="http://schemas.openxmlformats.org/officeDocument/2006/relationships/image" Target="../media/image41.png"/></Relationships>
</file>

<file path=ppt/slides/_rels/slide26.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2.mp4"/><Relationship Id="rId1" Type="http://schemas.microsoft.com/office/2007/relationships/media" Target="../media/media2.mp4"/><Relationship Id="rId4" Type="http://schemas.openxmlformats.org/officeDocument/2006/relationships/image" Target="../media/image43.png"/></Relationships>
</file>

<file path=ppt/slides/_rels/slide28.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3.mp4"/><Relationship Id="rId1" Type="http://schemas.microsoft.com/office/2007/relationships/media" Target="../media/media3.mp4"/><Relationship Id="rId5" Type="http://schemas.openxmlformats.org/officeDocument/2006/relationships/image" Target="../media/image47.png"/><Relationship Id="rId4" Type="http://schemas.openxmlformats.org/officeDocument/2006/relationships/image" Target="../media/image46.png"/></Relationships>
</file>

<file path=ppt/slides/_rels/slide30.xml.rels><?xml version="1.0" encoding="UTF-8" standalone="yes"?>
<Relationships xmlns="http://schemas.openxmlformats.org/package/2006/relationships"><Relationship Id="rId3" Type="http://schemas.openxmlformats.org/officeDocument/2006/relationships/image" Target="../media/image48.emf"/><Relationship Id="rId2" Type="http://schemas.openxmlformats.org/officeDocument/2006/relationships/package" Target="../embeddings/Microsoft_Excel_Worksheet.xlsx"/><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p:txBody>
          <a:bodyPr/>
          <a:lstStyle/>
          <a:p>
            <a:r>
              <a:rPr lang="es-ES" dirty="0"/>
              <a:t>Proyecto de simulación cinemática </a:t>
            </a:r>
          </a:p>
        </p:txBody>
      </p:sp>
      <p:sp>
        <p:nvSpPr>
          <p:cNvPr id="3" name="Subtítulo 2"/>
          <p:cNvSpPr>
            <a:spLocks noGrp="1"/>
          </p:cNvSpPr>
          <p:nvPr>
            <p:ph type="subTitle" idx="1"/>
          </p:nvPr>
        </p:nvSpPr>
        <p:spPr/>
        <p:txBody>
          <a:bodyPr/>
          <a:lstStyle/>
          <a:p>
            <a:r>
              <a:rPr lang="es-ES" dirty="0"/>
              <a:t>Ejercicio propuesto de intercepción aérea bidimensional</a:t>
            </a:r>
          </a:p>
        </p:txBody>
      </p:sp>
    </p:spTree>
    <p:extLst>
      <p:ext uri="{BB962C8B-B14F-4D97-AF65-F5344CB8AC3E}">
        <p14:creationId xmlns:p14="http://schemas.microsoft.com/office/powerpoint/2010/main" val="642217339"/>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randombar(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103310" y="925104"/>
            <a:ext cx="9404723" cy="1400530"/>
          </a:xfrm>
        </p:spPr>
        <p:txBody>
          <a:bodyPr/>
          <a:lstStyle/>
          <a:p>
            <a:r>
              <a:rPr lang="es-ES" dirty="0"/>
              <a:t>Integrantes del grupo</a:t>
            </a:r>
          </a:p>
        </p:txBody>
      </p:sp>
      <p:sp>
        <p:nvSpPr>
          <p:cNvPr id="3" name="Marcador de contenido 2"/>
          <p:cNvSpPr>
            <a:spLocks noGrp="1"/>
          </p:cNvSpPr>
          <p:nvPr>
            <p:ph idx="1"/>
          </p:nvPr>
        </p:nvSpPr>
        <p:spPr>
          <a:xfrm>
            <a:off x="1332402" y="2325634"/>
            <a:ext cx="8946541" cy="4195481"/>
          </a:xfrm>
        </p:spPr>
        <p:txBody>
          <a:bodyPr/>
          <a:lstStyle/>
          <a:p>
            <a:r>
              <a:rPr lang="es-ES" sz="3600" dirty="0"/>
              <a:t>1) Baltazar Rivas Bryan</a:t>
            </a:r>
          </a:p>
          <a:p>
            <a:r>
              <a:rPr lang="es-ES" sz="3600" dirty="0"/>
              <a:t>2) </a:t>
            </a:r>
            <a:r>
              <a:rPr lang="es-ES" sz="3600" dirty="0" err="1"/>
              <a:t>Marquez</a:t>
            </a:r>
            <a:r>
              <a:rPr lang="es-ES" sz="3600" dirty="0"/>
              <a:t> Chambi </a:t>
            </a:r>
            <a:r>
              <a:rPr lang="es-ES" sz="3600" dirty="0" err="1"/>
              <a:t>Angel</a:t>
            </a:r>
            <a:r>
              <a:rPr lang="es-ES" sz="3600" dirty="0"/>
              <a:t> Eduardo</a:t>
            </a:r>
          </a:p>
          <a:p>
            <a:r>
              <a:rPr lang="es-ES" sz="3600" dirty="0"/>
              <a:t>3) Morales Vega </a:t>
            </a:r>
            <a:r>
              <a:rPr lang="es-ES" sz="3600" dirty="0" err="1"/>
              <a:t>Alvaro</a:t>
            </a:r>
            <a:endParaRPr lang="es-ES" sz="3600" dirty="0"/>
          </a:p>
          <a:p>
            <a:r>
              <a:rPr lang="es-ES" sz="3600" dirty="0"/>
              <a:t>4) Saavedra Veliz Alex Cristian</a:t>
            </a:r>
          </a:p>
          <a:p>
            <a:endParaRPr lang="es-ES" dirty="0"/>
          </a:p>
        </p:txBody>
      </p:sp>
    </p:spTree>
    <p:extLst>
      <p:ext uri="{BB962C8B-B14F-4D97-AF65-F5344CB8AC3E}">
        <p14:creationId xmlns:p14="http://schemas.microsoft.com/office/powerpoint/2010/main" val="293719243"/>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0" presetClass="emph" presetSubtype="0" fill="hold" grpId="0" nodeType="clickEffect">
                                  <p:stCondLst>
                                    <p:cond delay="0"/>
                                  </p:stCondLst>
                                  <p:childTnLst>
                                    <p:animClr clrSpc="hsl" dir="cw">
                                      <p:cBhvr override="childStyle">
                                        <p:cTn id="6" dur="500" fill="hold"/>
                                        <p:tgtEl>
                                          <p:spTgt spid="2"/>
                                        </p:tgtEl>
                                        <p:attrNameLst>
                                          <p:attrName>style.color</p:attrName>
                                        </p:attrNameLst>
                                      </p:cBhvr>
                                      <p:by>
                                        <p:hsl h="0" s="12549" l="25098"/>
                                      </p:by>
                                    </p:animClr>
                                    <p:animClr clrSpc="hsl" dir="cw">
                                      <p:cBhvr>
                                        <p:cTn id="7" dur="500" fill="hold"/>
                                        <p:tgtEl>
                                          <p:spTgt spid="2"/>
                                        </p:tgtEl>
                                        <p:attrNameLst>
                                          <p:attrName>fillcolor</p:attrName>
                                        </p:attrNameLst>
                                      </p:cBhvr>
                                      <p:by>
                                        <p:hsl h="0" s="12549" l="25098"/>
                                      </p:by>
                                    </p:animClr>
                                    <p:animClr clrSpc="hsl" dir="cw">
                                      <p:cBhvr>
                                        <p:cTn id="8" dur="500" fill="hold"/>
                                        <p:tgtEl>
                                          <p:spTgt spid="2"/>
                                        </p:tgtEl>
                                        <p:attrNameLst>
                                          <p:attrName>stroke.color</p:attrName>
                                        </p:attrNameLst>
                                      </p:cBhvr>
                                      <p:by>
                                        <p:hsl h="0" s="12549" l="25098"/>
                                      </p:by>
                                    </p:animClr>
                                    <p:set>
                                      <p:cBhvr>
                                        <p:cTn id="9" dur="500" fill="hold"/>
                                        <p:tgtEl>
                                          <p:spTgt spid="2"/>
                                        </p:tgtEl>
                                        <p:attrNameLst>
                                          <p:attrName>fill.type</p:attrName>
                                        </p:attrNameLst>
                                      </p:cBhvr>
                                      <p:to>
                                        <p:strVal val="solid"/>
                                      </p:to>
                                    </p:set>
                                  </p:childTnLst>
                                </p:cTn>
                              </p:par>
                            </p:childTnLst>
                          </p:cTn>
                        </p:par>
                      </p:childTnLst>
                    </p:cTn>
                  </p:par>
                  <p:par>
                    <p:cTn id="10" fill="hold">
                      <p:stCondLst>
                        <p:cond delay="indefinite"/>
                      </p:stCondLst>
                      <p:childTnLst>
                        <p:par>
                          <p:cTn id="11" fill="hold">
                            <p:stCondLst>
                              <p:cond delay="0"/>
                            </p:stCondLst>
                            <p:childTnLst>
                              <p:par>
                                <p:cTn id="12" presetID="26" presetClass="emph" presetSubtype="0" fill="hold" grpId="0" nodeType="clickEffect">
                                  <p:stCondLst>
                                    <p:cond delay="0"/>
                                  </p:stCondLst>
                                  <p:childTnLst>
                                    <p:animEffect transition="out" filter="fade">
                                      <p:cBhvr>
                                        <p:cTn id="13" dur="500" tmFilter="0, 0; .2, .5; .8, .5; 1, 0"/>
                                        <p:tgtEl>
                                          <p:spTgt spid="3">
                                            <p:txEl>
                                              <p:pRg st="0" end="0"/>
                                            </p:txEl>
                                          </p:spTgt>
                                        </p:tgtEl>
                                      </p:cBhvr>
                                    </p:animEffect>
                                    <p:animScale>
                                      <p:cBhvr>
                                        <p:cTn id="14" dur="250" autoRev="1" fill="hold"/>
                                        <p:tgtEl>
                                          <p:spTgt spid="3">
                                            <p:txEl>
                                              <p:pRg st="0" end="0"/>
                                            </p:txEl>
                                          </p:spTgt>
                                        </p:tgtEl>
                                      </p:cBhvr>
                                      <p:by x="105000" y="105000"/>
                                    </p:animScale>
                                  </p:childTnLst>
                                </p:cTn>
                              </p:par>
                            </p:childTnLst>
                          </p:cTn>
                        </p:par>
                      </p:childTnLst>
                    </p:cTn>
                  </p:par>
                  <p:par>
                    <p:cTn id="15" fill="hold">
                      <p:stCondLst>
                        <p:cond delay="indefinite"/>
                      </p:stCondLst>
                      <p:childTnLst>
                        <p:par>
                          <p:cTn id="16" fill="hold">
                            <p:stCondLst>
                              <p:cond delay="0"/>
                            </p:stCondLst>
                            <p:childTnLst>
                              <p:par>
                                <p:cTn id="17" presetID="26" presetClass="emph" presetSubtype="0" fill="hold" grpId="0" nodeType="clickEffect">
                                  <p:stCondLst>
                                    <p:cond delay="0"/>
                                  </p:stCondLst>
                                  <p:childTnLst>
                                    <p:animEffect transition="out" filter="fade">
                                      <p:cBhvr>
                                        <p:cTn id="18" dur="500" tmFilter="0, 0; .2, .5; .8, .5; 1, 0"/>
                                        <p:tgtEl>
                                          <p:spTgt spid="3">
                                            <p:txEl>
                                              <p:pRg st="1" end="1"/>
                                            </p:txEl>
                                          </p:spTgt>
                                        </p:tgtEl>
                                      </p:cBhvr>
                                    </p:animEffect>
                                    <p:animScale>
                                      <p:cBhvr>
                                        <p:cTn id="19" dur="250" autoRev="1" fill="hold"/>
                                        <p:tgtEl>
                                          <p:spTgt spid="3">
                                            <p:txEl>
                                              <p:pRg st="1" end="1"/>
                                            </p:txEl>
                                          </p:spTgt>
                                        </p:tgtEl>
                                      </p:cBhvr>
                                      <p:by x="105000" y="105000"/>
                                    </p:animScale>
                                  </p:childTnLst>
                                </p:cTn>
                              </p:par>
                            </p:childTnLst>
                          </p:cTn>
                        </p:par>
                      </p:childTnLst>
                    </p:cTn>
                  </p:par>
                  <p:par>
                    <p:cTn id="20" fill="hold">
                      <p:stCondLst>
                        <p:cond delay="indefinite"/>
                      </p:stCondLst>
                      <p:childTnLst>
                        <p:par>
                          <p:cTn id="21" fill="hold">
                            <p:stCondLst>
                              <p:cond delay="0"/>
                            </p:stCondLst>
                            <p:childTnLst>
                              <p:par>
                                <p:cTn id="22" presetID="26" presetClass="emph" presetSubtype="0" fill="hold" grpId="0" nodeType="clickEffect">
                                  <p:stCondLst>
                                    <p:cond delay="0"/>
                                  </p:stCondLst>
                                  <p:childTnLst>
                                    <p:animEffect transition="out" filter="fade">
                                      <p:cBhvr>
                                        <p:cTn id="23" dur="500" tmFilter="0, 0; .2, .5; .8, .5; 1, 0"/>
                                        <p:tgtEl>
                                          <p:spTgt spid="3">
                                            <p:txEl>
                                              <p:pRg st="2" end="2"/>
                                            </p:txEl>
                                          </p:spTgt>
                                        </p:tgtEl>
                                      </p:cBhvr>
                                    </p:animEffect>
                                    <p:animScale>
                                      <p:cBhvr>
                                        <p:cTn id="24" dur="250" autoRev="1" fill="hold"/>
                                        <p:tgtEl>
                                          <p:spTgt spid="3">
                                            <p:txEl>
                                              <p:pRg st="2" end="2"/>
                                            </p:txEl>
                                          </p:spTgt>
                                        </p:tgtEl>
                                      </p:cBhvr>
                                      <p:by x="105000" y="105000"/>
                                    </p:animScale>
                                  </p:childTnLst>
                                </p:cTn>
                              </p:par>
                            </p:childTnLst>
                          </p:cTn>
                        </p:par>
                      </p:childTnLst>
                    </p:cTn>
                  </p:par>
                  <p:par>
                    <p:cTn id="25" fill="hold">
                      <p:stCondLst>
                        <p:cond delay="indefinite"/>
                      </p:stCondLst>
                      <p:childTnLst>
                        <p:par>
                          <p:cTn id="26" fill="hold">
                            <p:stCondLst>
                              <p:cond delay="0"/>
                            </p:stCondLst>
                            <p:childTnLst>
                              <p:par>
                                <p:cTn id="27" presetID="26" presetClass="emph" presetSubtype="0" fill="hold" grpId="0" nodeType="clickEffect">
                                  <p:stCondLst>
                                    <p:cond delay="0"/>
                                  </p:stCondLst>
                                  <p:childTnLst>
                                    <p:animEffect transition="out" filter="fade">
                                      <p:cBhvr>
                                        <p:cTn id="28" dur="500" tmFilter="0, 0; .2, .5; .8, .5; 1, 0"/>
                                        <p:tgtEl>
                                          <p:spTgt spid="3">
                                            <p:txEl>
                                              <p:pRg st="3" end="3"/>
                                            </p:txEl>
                                          </p:spTgt>
                                        </p:tgtEl>
                                      </p:cBhvr>
                                    </p:animEffect>
                                    <p:animScale>
                                      <p:cBhvr>
                                        <p:cTn id="29" dur="250" autoRev="1" fill="hold"/>
                                        <p:tgtEl>
                                          <p:spTgt spid="3">
                                            <p:txEl>
                                              <p:pRg st="3" end="3"/>
                                            </p:txEl>
                                          </p:spTgt>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t>Tabla de Contenido</a:t>
            </a:r>
          </a:p>
        </p:txBody>
      </p:sp>
      <p:sp>
        <p:nvSpPr>
          <p:cNvPr id="3" name="Marcador de contenido 2"/>
          <p:cNvSpPr>
            <a:spLocks noGrp="1"/>
          </p:cNvSpPr>
          <p:nvPr>
            <p:ph idx="1"/>
          </p:nvPr>
        </p:nvSpPr>
        <p:spPr/>
        <p:txBody>
          <a:bodyPr>
            <a:normAutofit fontScale="92500" lnSpcReduction="20000"/>
          </a:bodyPr>
          <a:lstStyle/>
          <a:p>
            <a:r>
              <a:rPr lang="es-ES" dirty="0"/>
              <a:t>1) Objetivos</a:t>
            </a:r>
          </a:p>
          <a:p>
            <a:r>
              <a:rPr lang="es-ES" dirty="0"/>
              <a:t>2) Introducción</a:t>
            </a:r>
          </a:p>
          <a:p>
            <a:r>
              <a:rPr lang="es-ES" dirty="0"/>
              <a:t>3) Planteamiento del problema</a:t>
            </a:r>
          </a:p>
          <a:p>
            <a:r>
              <a:rPr lang="es-ES" dirty="0"/>
              <a:t>4) Resolución del problema</a:t>
            </a:r>
          </a:p>
          <a:p>
            <a:r>
              <a:rPr lang="es-ES" dirty="0"/>
              <a:t>5) Herramientas utilizadas</a:t>
            </a:r>
          </a:p>
          <a:p>
            <a:r>
              <a:rPr lang="es-ES" dirty="0"/>
              <a:t>6) Simulación en Python y </a:t>
            </a:r>
            <a:r>
              <a:rPr lang="es-ES" dirty="0" err="1"/>
              <a:t>war</a:t>
            </a:r>
            <a:r>
              <a:rPr lang="es-ES" dirty="0"/>
              <a:t> </a:t>
            </a:r>
            <a:r>
              <a:rPr lang="es-ES" dirty="0" err="1"/>
              <a:t>thunder</a:t>
            </a:r>
            <a:endParaRPr lang="es-ES" dirty="0"/>
          </a:p>
          <a:p>
            <a:r>
              <a:rPr lang="es-ES" dirty="0"/>
              <a:t>7) Resultados</a:t>
            </a:r>
          </a:p>
          <a:p>
            <a:r>
              <a:rPr lang="es-ES" dirty="0"/>
              <a:t>8) Conclusiones</a:t>
            </a:r>
          </a:p>
          <a:p>
            <a:endParaRPr lang="es-ES" dirty="0"/>
          </a:p>
        </p:txBody>
      </p:sp>
    </p:spTree>
    <p:extLst>
      <p:ext uri="{BB962C8B-B14F-4D97-AF65-F5344CB8AC3E}">
        <p14:creationId xmlns:p14="http://schemas.microsoft.com/office/powerpoint/2010/main" val="1832315585"/>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2"/>
                                        </p:tgtEl>
                                      </p:cBhvr>
                                    </p:animEffect>
                                    <p:animScale>
                                      <p:cBhvr>
                                        <p:cTn id="7" dur="250" autoRev="1" fill="hold"/>
                                        <p:tgtEl>
                                          <p:spTgt spid="2"/>
                                        </p:tgtEl>
                                      </p:cBhvr>
                                      <p:by x="105000" y="105000"/>
                                    </p:animScale>
                                  </p:childTnLst>
                                </p:cTn>
                              </p:par>
                            </p:childTnLst>
                          </p:cTn>
                        </p:par>
                      </p:childTnLst>
                    </p:cTn>
                  </p:par>
                  <p:par>
                    <p:cTn id="8" fill="hold">
                      <p:stCondLst>
                        <p:cond delay="indefinite"/>
                      </p:stCondLst>
                      <p:childTnLst>
                        <p:par>
                          <p:cTn id="9" fill="hold">
                            <p:stCondLst>
                              <p:cond delay="0"/>
                            </p:stCondLst>
                            <p:childTnLst>
                              <p:par>
                                <p:cTn id="10" presetID="19" presetClass="emph" presetSubtype="0" fill="hold" grpId="0" nodeType="clickEffect">
                                  <p:stCondLst>
                                    <p:cond delay="0"/>
                                  </p:stCondLst>
                                  <p:childTnLst>
                                    <p:animClr clrSpc="rgb" dir="cw">
                                      <p:cBhvr override="childStyle">
                                        <p:cTn id="11" dur="500" fill="hold"/>
                                        <p:tgtEl>
                                          <p:spTgt spid="3">
                                            <p:txEl>
                                              <p:pRg st="0" end="0"/>
                                            </p:txEl>
                                          </p:spTgt>
                                        </p:tgtEl>
                                        <p:attrNameLst>
                                          <p:attrName>style.color</p:attrName>
                                        </p:attrNameLst>
                                      </p:cBhvr>
                                      <p:to>
                                        <a:schemeClr val="accent2"/>
                                      </p:to>
                                    </p:animClr>
                                    <p:animClr clrSpc="rgb" dir="cw">
                                      <p:cBhvr>
                                        <p:cTn id="12" dur="500" fill="hold"/>
                                        <p:tgtEl>
                                          <p:spTgt spid="3">
                                            <p:txEl>
                                              <p:pRg st="0" end="0"/>
                                            </p:txEl>
                                          </p:spTgt>
                                        </p:tgtEl>
                                        <p:attrNameLst>
                                          <p:attrName>fillcolor</p:attrName>
                                        </p:attrNameLst>
                                      </p:cBhvr>
                                      <p:to>
                                        <a:schemeClr val="accent2"/>
                                      </p:to>
                                    </p:animClr>
                                    <p:set>
                                      <p:cBhvr>
                                        <p:cTn id="13" dur="500" fill="hold"/>
                                        <p:tgtEl>
                                          <p:spTgt spid="3">
                                            <p:txEl>
                                              <p:pRg st="0" end="0"/>
                                            </p:txEl>
                                          </p:spTgt>
                                        </p:tgtEl>
                                        <p:attrNameLst>
                                          <p:attrName>fill.type</p:attrName>
                                        </p:attrNameLst>
                                      </p:cBhvr>
                                      <p:to>
                                        <p:strVal val="solid"/>
                                      </p:to>
                                    </p:set>
                                    <p:set>
                                      <p:cBhvr>
                                        <p:cTn id="14" dur="500" fill="hold"/>
                                        <p:tgtEl>
                                          <p:spTgt spid="3">
                                            <p:txEl>
                                              <p:pRg st="0" end="0"/>
                                            </p:txEl>
                                          </p:spTgt>
                                        </p:tgtEl>
                                        <p:attrNameLst>
                                          <p:attrName>fill.on</p:attrName>
                                        </p:attrNameLst>
                                      </p:cBhvr>
                                      <p:to>
                                        <p:strVal val="true"/>
                                      </p:to>
                                    </p:set>
                                  </p:childTnLst>
                                </p:cTn>
                              </p:par>
                            </p:childTnLst>
                          </p:cTn>
                        </p:par>
                      </p:childTnLst>
                    </p:cTn>
                  </p:par>
                  <p:par>
                    <p:cTn id="15" fill="hold">
                      <p:stCondLst>
                        <p:cond delay="indefinite"/>
                      </p:stCondLst>
                      <p:childTnLst>
                        <p:par>
                          <p:cTn id="16" fill="hold">
                            <p:stCondLst>
                              <p:cond delay="0"/>
                            </p:stCondLst>
                            <p:childTnLst>
                              <p:par>
                                <p:cTn id="17" presetID="19" presetClass="emph" presetSubtype="0" fill="hold" grpId="0" nodeType="clickEffect">
                                  <p:stCondLst>
                                    <p:cond delay="0"/>
                                  </p:stCondLst>
                                  <p:childTnLst>
                                    <p:animClr clrSpc="rgb" dir="cw">
                                      <p:cBhvr override="childStyle">
                                        <p:cTn id="18" dur="500" fill="hold"/>
                                        <p:tgtEl>
                                          <p:spTgt spid="3">
                                            <p:txEl>
                                              <p:pRg st="1" end="1"/>
                                            </p:txEl>
                                          </p:spTgt>
                                        </p:tgtEl>
                                        <p:attrNameLst>
                                          <p:attrName>style.color</p:attrName>
                                        </p:attrNameLst>
                                      </p:cBhvr>
                                      <p:to>
                                        <a:schemeClr val="accent2"/>
                                      </p:to>
                                    </p:animClr>
                                    <p:animClr clrSpc="rgb" dir="cw">
                                      <p:cBhvr>
                                        <p:cTn id="19" dur="500" fill="hold"/>
                                        <p:tgtEl>
                                          <p:spTgt spid="3">
                                            <p:txEl>
                                              <p:pRg st="1" end="1"/>
                                            </p:txEl>
                                          </p:spTgt>
                                        </p:tgtEl>
                                        <p:attrNameLst>
                                          <p:attrName>fillcolor</p:attrName>
                                        </p:attrNameLst>
                                      </p:cBhvr>
                                      <p:to>
                                        <a:schemeClr val="accent2"/>
                                      </p:to>
                                    </p:animClr>
                                    <p:set>
                                      <p:cBhvr>
                                        <p:cTn id="20" dur="500" fill="hold"/>
                                        <p:tgtEl>
                                          <p:spTgt spid="3">
                                            <p:txEl>
                                              <p:pRg st="1" end="1"/>
                                            </p:txEl>
                                          </p:spTgt>
                                        </p:tgtEl>
                                        <p:attrNameLst>
                                          <p:attrName>fill.type</p:attrName>
                                        </p:attrNameLst>
                                      </p:cBhvr>
                                      <p:to>
                                        <p:strVal val="solid"/>
                                      </p:to>
                                    </p:set>
                                    <p:set>
                                      <p:cBhvr>
                                        <p:cTn id="21" dur="500" fill="hold"/>
                                        <p:tgtEl>
                                          <p:spTgt spid="3">
                                            <p:txEl>
                                              <p:pRg st="1" end="1"/>
                                            </p:txEl>
                                          </p:spTgt>
                                        </p:tgtEl>
                                        <p:attrNameLst>
                                          <p:attrName>fill.on</p:attrName>
                                        </p:attrNameLst>
                                      </p:cBhvr>
                                      <p:to>
                                        <p:strVal val="true"/>
                                      </p:to>
                                    </p:set>
                                  </p:childTnLst>
                                </p:cTn>
                              </p:par>
                            </p:childTnLst>
                          </p:cTn>
                        </p:par>
                      </p:childTnLst>
                    </p:cTn>
                  </p:par>
                  <p:par>
                    <p:cTn id="22" fill="hold">
                      <p:stCondLst>
                        <p:cond delay="indefinite"/>
                      </p:stCondLst>
                      <p:childTnLst>
                        <p:par>
                          <p:cTn id="23" fill="hold">
                            <p:stCondLst>
                              <p:cond delay="0"/>
                            </p:stCondLst>
                            <p:childTnLst>
                              <p:par>
                                <p:cTn id="24" presetID="19" presetClass="emph" presetSubtype="0" fill="hold" grpId="0" nodeType="clickEffect">
                                  <p:stCondLst>
                                    <p:cond delay="0"/>
                                  </p:stCondLst>
                                  <p:childTnLst>
                                    <p:animClr clrSpc="rgb" dir="cw">
                                      <p:cBhvr override="childStyle">
                                        <p:cTn id="25" dur="500" fill="hold"/>
                                        <p:tgtEl>
                                          <p:spTgt spid="3">
                                            <p:txEl>
                                              <p:pRg st="2" end="2"/>
                                            </p:txEl>
                                          </p:spTgt>
                                        </p:tgtEl>
                                        <p:attrNameLst>
                                          <p:attrName>style.color</p:attrName>
                                        </p:attrNameLst>
                                      </p:cBhvr>
                                      <p:to>
                                        <a:schemeClr val="accent2"/>
                                      </p:to>
                                    </p:animClr>
                                    <p:animClr clrSpc="rgb" dir="cw">
                                      <p:cBhvr>
                                        <p:cTn id="26" dur="500" fill="hold"/>
                                        <p:tgtEl>
                                          <p:spTgt spid="3">
                                            <p:txEl>
                                              <p:pRg st="2" end="2"/>
                                            </p:txEl>
                                          </p:spTgt>
                                        </p:tgtEl>
                                        <p:attrNameLst>
                                          <p:attrName>fillcolor</p:attrName>
                                        </p:attrNameLst>
                                      </p:cBhvr>
                                      <p:to>
                                        <a:schemeClr val="accent2"/>
                                      </p:to>
                                    </p:animClr>
                                    <p:set>
                                      <p:cBhvr>
                                        <p:cTn id="27" dur="500" fill="hold"/>
                                        <p:tgtEl>
                                          <p:spTgt spid="3">
                                            <p:txEl>
                                              <p:pRg st="2" end="2"/>
                                            </p:txEl>
                                          </p:spTgt>
                                        </p:tgtEl>
                                        <p:attrNameLst>
                                          <p:attrName>fill.type</p:attrName>
                                        </p:attrNameLst>
                                      </p:cBhvr>
                                      <p:to>
                                        <p:strVal val="solid"/>
                                      </p:to>
                                    </p:set>
                                    <p:set>
                                      <p:cBhvr>
                                        <p:cTn id="28" dur="500" fill="hold"/>
                                        <p:tgtEl>
                                          <p:spTgt spid="3">
                                            <p:txEl>
                                              <p:pRg st="2" end="2"/>
                                            </p:txEl>
                                          </p:spTgt>
                                        </p:tgtEl>
                                        <p:attrNameLst>
                                          <p:attrName>fill.on</p:attrName>
                                        </p:attrNameLst>
                                      </p:cBhvr>
                                      <p:to>
                                        <p:strVal val="true"/>
                                      </p:to>
                                    </p:set>
                                  </p:childTnLst>
                                </p:cTn>
                              </p:par>
                            </p:childTnLst>
                          </p:cTn>
                        </p:par>
                      </p:childTnLst>
                    </p:cTn>
                  </p:par>
                  <p:par>
                    <p:cTn id="29" fill="hold">
                      <p:stCondLst>
                        <p:cond delay="indefinite"/>
                      </p:stCondLst>
                      <p:childTnLst>
                        <p:par>
                          <p:cTn id="30" fill="hold">
                            <p:stCondLst>
                              <p:cond delay="0"/>
                            </p:stCondLst>
                            <p:childTnLst>
                              <p:par>
                                <p:cTn id="31" presetID="19" presetClass="emph" presetSubtype="0" fill="hold" grpId="0" nodeType="clickEffect">
                                  <p:stCondLst>
                                    <p:cond delay="0"/>
                                  </p:stCondLst>
                                  <p:childTnLst>
                                    <p:animClr clrSpc="rgb" dir="cw">
                                      <p:cBhvr override="childStyle">
                                        <p:cTn id="32" dur="500" fill="hold"/>
                                        <p:tgtEl>
                                          <p:spTgt spid="3">
                                            <p:txEl>
                                              <p:pRg st="3" end="3"/>
                                            </p:txEl>
                                          </p:spTgt>
                                        </p:tgtEl>
                                        <p:attrNameLst>
                                          <p:attrName>style.color</p:attrName>
                                        </p:attrNameLst>
                                      </p:cBhvr>
                                      <p:to>
                                        <a:schemeClr val="accent2"/>
                                      </p:to>
                                    </p:animClr>
                                    <p:animClr clrSpc="rgb" dir="cw">
                                      <p:cBhvr>
                                        <p:cTn id="33" dur="500" fill="hold"/>
                                        <p:tgtEl>
                                          <p:spTgt spid="3">
                                            <p:txEl>
                                              <p:pRg st="3" end="3"/>
                                            </p:txEl>
                                          </p:spTgt>
                                        </p:tgtEl>
                                        <p:attrNameLst>
                                          <p:attrName>fillcolor</p:attrName>
                                        </p:attrNameLst>
                                      </p:cBhvr>
                                      <p:to>
                                        <a:schemeClr val="accent2"/>
                                      </p:to>
                                    </p:animClr>
                                    <p:set>
                                      <p:cBhvr>
                                        <p:cTn id="34" dur="500" fill="hold"/>
                                        <p:tgtEl>
                                          <p:spTgt spid="3">
                                            <p:txEl>
                                              <p:pRg st="3" end="3"/>
                                            </p:txEl>
                                          </p:spTgt>
                                        </p:tgtEl>
                                        <p:attrNameLst>
                                          <p:attrName>fill.type</p:attrName>
                                        </p:attrNameLst>
                                      </p:cBhvr>
                                      <p:to>
                                        <p:strVal val="solid"/>
                                      </p:to>
                                    </p:set>
                                    <p:set>
                                      <p:cBhvr>
                                        <p:cTn id="35" dur="500" fill="hold"/>
                                        <p:tgtEl>
                                          <p:spTgt spid="3">
                                            <p:txEl>
                                              <p:pRg st="3" end="3"/>
                                            </p:txEl>
                                          </p:spTgt>
                                        </p:tgtEl>
                                        <p:attrNameLst>
                                          <p:attrName>fill.on</p:attrName>
                                        </p:attrNameLst>
                                      </p:cBhvr>
                                      <p:to>
                                        <p:strVal val="true"/>
                                      </p:to>
                                    </p:set>
                                  </p:childTnLst>
                                </p:cTn>
                              </p:par>
                            </p:childTnLst>
                          </p:cTn>
                        </p:par>
                      </p:childTnLst>
                    </p:cTn>
                  </p:par>
                  <p:par>
                    <p:cTn id="36" fill="hold">
                      <p:stCondLst>
                        <p:cond delay="indefinite"/>
                      </p:stCondLst>
                      <p:childTnLst>
                        <p:par>
                          <p:cTn id="37" fill="hold">
                            <p:stCondLst>
                              <p:cond delay="0"/>
                            </p:stCondLst>
                            <p:childTnLst>
                              <p:par>
                                <p:cTn id="38" presetID="19" presetClass="emph" presetSubtype="0" fill="hold" grpId="0" nodeType="clickEffect">
                                  <p:stCondLst>
                                    <p:cond delay="0"/>
                                  </p:stCondLst>
                                  <p:childTnLst>
                                    <p:animClr clrSpc="rgb" dir="cw">
                                      <p:cBhvr override="childStyle">
                                        <p:cTn id="39" dur="500" fill="hold"/>
                                        <p:tgtEl>
                                          <p:spTgt spid="3">
                                            <p:txEl>
                                              <p:pRg st="4" end="4"/>
                                            </p:txEl>
                                          </p:spTgt>
                                        </p:tgtEl>
                                        <p:attrNameLst>
                                          <p:attrName>style.color</p:attrName>
                                        </p:attrNameLst>
                                      </p:cBhvr>
                                      <p:to>
                                        <a:schemeClr val="accent2"/>
                                      </p:to>
                                    </p:animClr>
                                    <p:animClr clrSpc="rgb" dir="cw">
                                      <p:cBhvr>
                                        <p:cTn id="40" dur="500" fill="hold"/>
                                        <p:tgtEl>
                                          <p:spTgt spid="3">
                                            <p:txEl>
                                              <p:pRg st="4" end="4"/>
                                            </p:txEl>
                                          </p:spTgt>
                                        </p:tgtEl>
                                        <p:attrNameLst>
                                          <p:attrName>fillcolor</p:attrName>
                                        </p:attrNameLst>
                                      </p:cBhvr>
                                      <p:to>
                                        <a:schemeClr val="accent2"/>
                                      </p:to>
                                    </p:animClr>
                                    <p:set>
                                      <p:cBhvr>
                                        <p:cTn id="41" dur="500" fill="hold"/>
                                        <p:tgtEl>
                                          <p:spTgt spid="3">
                                            <p:txEl>
                                              <p:pRg st="4" end="4"/>
                                            </p:txEl>
                                          </p:spTgt>
                                        </p:tgtEl>
                                        <p:attrNameLst>
                                          <p:attrName>fill.type</p:attrName>
                                        </p:attrNameLst>
                                      </p:cBhvr>
                                      <p:to>
                                        <p:strVal val="solid"/>
                                      </p:to>
                                    </p:set>
                                    <p:set>
                                      <p:cBhvr>
                                        <p:cTn id="42" dur="500" fill="hold"/>
                                        <p:tgtEl>
                                          <p:spTgt spid="3">
                                            <p:txEl>
                                              <p:pRg st="4" end="4"/>
                                            </p:txEl>
                                          </p:spTgt>
                                        </p:tgtEl>
                                        <p:attrNameLst>
                                          <p:attrName>fill.on</p:attrName>
                                        </p:attrNameLst>
                                      </p:cBhvr>
                                      <p:to>
                                        <p:strVal val="true"/>
                                      </p:to>
                                    </p:set>
                                  </p:childTnLst>
                                </p:cTn>
                              </p:par>
                            </p:childTnLst>
                          </p:cTn>
                        </p:par>
                      </p:childTnLst>
                    </p:cTn>
                  </p:par>
                  <p:par>
                    <p:cTn id="43" fill="hold">
                      <p:stCondLst>
                        <p:cond delay="indefinite"/>
                      </p:stCondLst>
                      <p:childTnLst>
                        <p:par>
                          <p:cTn id="44" fill="hold">
                            <p:stCondLst>
                              <p:cond delay="0"/>
                            </p:stCondLst>
                            <p:childTnLst>
                              <p:par>
                                <p:cTn id="45" presetID="19" presetClass="emph" presetSubtype="0" fill="hold" grpId="0" nodeType="clickEffect">
                                  <p:stCondLst>
                                    <p:cond delay="0"/>
                                  </p:stCondLst>
                                  <p:childTnLst>
                                    <p:animClr clrSpc="rgb" dir="cw">
                                      <p:cBhvr override="childStyle">
                                        <p:cTn id="46" dur="500" fill="hold"/>
                                        <p:tgtEl>
                                          <p:spTgt spid="3">
                                            <p:txEl>
                                              <p:pRg st="5" end="5"/>
                                            </p:txEl>
                                          </p:spTgt>
                                        </p:tgtEl>
                                        <p:attrNameLst>
                                          <p:attrName>style.color</p:attrName>
                                        </p:attrNameLst>
                                      </p:cBhvr>
                                      <p:to>
                                        <a:schemeClr val="accent2"/>
                                      </p:to>
                                    </p:animClr>
                                    <p:animClr clrSpc="rgb" dir="cw">
                                      <p:cBhvr>
                                        <p:cTn id="47" dur="500" fill="hold"/>
                                        <p:tgtEl>
                                          <p:spTgt spid="3">
                                            <p:txEl>
                                              <p:pRg st="5" end="5"/>
                                            </p:txEl>
                                          </p:spTgt>
                                        </p:tgtEl>
                                        <p:attrNameLst>
                                          <p:attrName>fillcolor</p:attrName>
                                        </p:attrNameLst>
                                      </p:cBhvr>
                                      <p:to>
                                        <a:schemeClr val="accent2"/>
                                      </p:to>
                                    </p:animClr>
                                    <p:set>
                                      <p:cBhvr>
                                        <p:cTn id="48" dur="500" fill="hold"/>
                                        <p:tgtEl>
                                          <p:spTgt spid="3">
                                            <p:txEl>
                                              <p:pRg st="5" end="5"/>
                                            </p:txEl>
                                          </p:spTgt>
                                        </p:tgtEl>
                                        <p:attrNameLst>
                                          <p:attrName>fill.type</p:attrName>
                                        </p:attrNameLst>
                                      </p:cBhvr>
                                      <p:to>
                                        <p:strVal val="solid"/>
                                      </p:to>
                                    </p:set>
                                    <p:set>
                                      <p:cBhvr>
                                        <p:cTn id="49" dur="500" fill="hold"/>
                                        <p:tgtEl>
                                          <p:spTgt spid="3">
                                            <p:txEl>
                                              <p:pRg st="5" end="5"/>
                                            </p:txEl>
                                          </p:spTgt>
                                        </p:tgtEl>
                                        <p:attrNameLst>
                                          <p:attrName>fill.on</p:attrName>
                                        </p:attrNameLst>
                                      </p:cBhvr>
                                      <p:to>
                                        <p:strVal val="true"/>
                                      </p:to>
                                    </p:set>
                                  </p:childTnLst>
                                </p:cTn>
                              </p:par>
                            </p:childTnLst>
                          </p:cTn>
                        </p:par>
                      </p:childTnLst>
                    </p:cTn>
                  </p:par>
                  <p:par>
                    <p:cTn id="50" fill="hold">
                      <p:stCondLst>
                        <p:cond delay="indefinite"/>
                      </p:stCondLst>
                      <p:childTnLst>
                        <p:par>
                          <p:cTn id="51" fill="hold">
                            <p:stCondLst>
                              <p:cond delay="0"/>
                            </p:stCondLst>
                            <p:childTnLst>
                              <p:par>
                                <p:cTn id="52" presetID="19" presetClass="emph" presetSubtype="0" fill="hold" grpId="0" nodeType="clickEffect">
                                  <p:stCondLst>
                                    <p:cond delay="0"/>
                                  </p:stCondLst>
                                  <p:childTnLst>
                                    <p:animClr clrSpc="rgb" dir="cw">
                                      <p:cBhvr override="childStyle">
                                        <p:cTn id="53" dur="500" fill="hold"/>
                                        <p:tgtEl>
                                          <p:spTgt spid="3">
                                            <p:txEl>
                                              <p:pRg st="6" end="6"/>
                                            </p:txEl>
                                          </p:spTgt>
                                        </p:tgtEl>
                                        <p:attrNameLst>
                                          <p:attrName>style.color</p:attrName>
                                        </p:attrNameLst>
                                      </p:cBhvr>
                                      <p:to>
                                        <a:schemeClr val="accent2"/>
                                      </p:to>
                                    </p:animClr>
                                    <p:animClr clrSpc="rgb" dir="cw">
                                      <p:cBhvr>
                                        <p:cTn id="54" dur="500" fill="hold"/>
                                        <p:tgtEl>
                                          <p:spTgt spid="3">
                                            <p:txEl>
                                              <p:pRg st="6" end="6"/>
                                            </p:txEl>
                                          </p:spTgt>
                                        </p:tgtEl>
                                        <p:attrNameLst>
                                          <p:attrName>fillcolor</p:attrName>
                                        </p:attrNameLst>
                                      </p:cBhvr>
                                      <p:to>
                                        <a:schemeClr val="accent2"/>
                                      </p:to>
                                    </p:animClr>
                                    <p:set>
                                      <p:cBhvr>
                                        <p:cTn id="55" dur="500" fill="hold"/>
                                        <p:tgtEl>
                                          <p:spTgt spid="3">
                                            <p:txEl>
                                              <p:pRg st="6" end="6"/>
                                            </p:txEl>
                                          </p:spTgt>
                                        </p:tgtEl>
                                        <p:attrNameLst>
                                          <p:attrName>fill.type</p:attrName>
                                        </p:attrNameLst>
                                      </p:cBhvr>
                                      <p:to>
                                        <p:strVal val="solid"/>
                                      </p:to>
                                    </p:set>
                                    <p:set>
                                      <p:cBhvr>
                                        <p:cTn id="56" dur="500" fill="hold"/>
                                        <p:tgtEl>
                                          <p:spTgt spid="3">
                                            <p:txEl>
                                              <p:pRg st="6" end="6"/>
                                            </p:txEl>
                                          </p:spTgt>
                                        </p:tgtEl>
                                        <p:attrNameLst>
                                          <p:attrName>fill.on</p:attrName>
                                        </p:attrNameLst>
                                      </p:cBhvr>
                                      <p:to>
                                        <p:strVal val="true"/>
                                      </p:to>
                                    </p:set>
                                  </p:childTnLst>
                                </p:cTn>
                              </p:par>
                            </p:childTnLst>
                          </p:cTn>
                        </p:par>
                      </p:childTnLst>
                    </p:cTn>
                  </p:par>
                  <p:par>
                    <p:cTn id="57" fill="hold">
                      <p:stCondLst>
                        <p:cond delay="indefinite"/>
                      </p:stCondLst>
                      <p:childTnLst>
                        <p:par>
                          <p:cTn id="58" fill="hold">
                            <p:stCondLst>
                              <p:cond delay="0"/>
                            </p:stCondLst>
                            <p:childTnLst>
                              <p:par>
                                <p:cTn id="59" presetID="19" presetClass="emph" presetSubtype="0" fill="hold" grpId="0" nodeType="clickEffect">
                                  <p:stCondLst>
                                    <p:cond delay="0"/>
                                  </p:stCondLst>
                                  <p:childTnLst>
                                    <p:animClr clrSpc="rgb" dir="cw">
                                      <p:cBhvr override="childStyle">
                                        <p:cTn id="60" dur="500" fill="hold"/>
                                        <p:tgtEl>
                                          <p:spTgt spid="3">
                                            <p:txEl>
                                              <p:pRg st="7" end="7"/>
                                            </p:txEl>
                                          </p:spTgt>
                                        </p:tgtEl>
                                        <p:attrNameLst>
                                          <p:attrName>style.color</p:attrName>
                                        </p:attrNameLst>
                                      </p:cBhvr>
                                      <p:to>
                                        <a:schemeClr val="accent2"/>
                                      </p:to>
                                    </p:animClr>
                                    <p:animClr clrSpc="rgb" dir="cw">
                                      <p:cBhvr>
                                        <p:cTn id="61" dur="500" fill="hold"/>
                                        <p:tgtEl>
                                          <p:spTgt spid="3">
                                            <p:txEl>
                                              <p:pRg st="7" end="7"/>
                                            </p:txEl>
                                          </p:spTgt>
                                        </p:tgtEl>
                                        <p:attrNameLst>
                                          <p:attrName>fillcolor</p:attrName>
                                        </p:attrNameLst>
                                      </p:cBhvr>
                                      <p:to>
                                        <a:schemeClr val="accent2"/>
                                      </p:to>
                                    </p:animClr>
                                    <p:set>
                                      <p:cBhvr>
                                        <p:cTn id="62" dur="500" fill="hold"/>
                                        <p:tgtEl>
                                          <p:spTgt spid="3">
                                            <p:txEl>
                                              <p:pRg st="7" end="7"/>
                                            </p:txEl>
                                          </p:spTgt>
                                        </p:tgtEl>
                                        <p:attrNameLst>
                                          <p:attrName>fill.type</p:attrName>
                                        </p:attrNameLst>
                                      </p:cBhvr>
                                      <p:to>
                                        <p:strVal val="solid"/>
                                      </p:to>
                                    </p:set>
                                    <p:set>
                                      <p:cBhvr>
                                        <p:cTn id="63" dur="500" fill="hold"/>
                                        <p:tgtEl>
                                          <p:spTgt spid="3">
                                            <p:txEl>
                                              <p:pRg st="7" end="7"/>
                                            </p:txEl>
                                          </p:spTgt>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46111" y="429207"/>
            <a:ext cx="9404723" cy="2024743"/>
          </a:xfrm>
        </p:spPr>
        <p:txBody>
          <a:bodyPr/>
          <a:lstStyle/>
          <a:p>
            <a:pPr algn="ctr"/>
            <a:r>
              <a:rPr lang="es-ES" sz="6000" dirty="0"/>
              <a:t>Objetivos</a:t>
            </a:r>
          </a:p>
        </p:txBody>
      </p:sp>
      <p:sp>
        <p:nvSpPr>
          <p:cNvPr id="3" name="Marcador de contenido 2"/>
          <p:cNvSpPr>
            <a:spLocks noGrp="1"/>
          </p:cNvSpPr>
          <p:nvPr>
            <p:ph sz="half" idx="1"/>
          </p:nvPr>
        </p:nvSpPr>
        <p:spPr>
          <a:xfrm>
            <a:off x="1105144" y="2523240"/>
            <a:ext cx="4356090" cy="3525222"/>
          </a:xfrm>
        </p:spPr>
        <p:txBody>
          <a:bodyPr>
            <a:normAutofit fontScale="70000" lnSpcReduction="20000"/>
          </a:bodyPr>
          <a:lstStyle/>
          <a:p>
            <a:pPr marL="457200" lvl="1" indent="0">
              <a:buNone/>
            </a:pPr>
            <a:r>
              <a:rPr lang="es-ES" sz="2400" b="1" dirty="0"/>
              <a:t>	    Objetivo General</a:t>
            </a:r>
          </a:p>
          <a:p>
            <a:pPr marL="0" indent="0">
              <a:buNone/>
            </a:pPr>
            <a:br>
              <a:rPr lang="es-ES" dirty="0"/>
            </a:br>
            <a:r>
              <a:rPr lang="es-MX" dirty="0"/>
              <a:t>Modelar y simular la cinemática de un escenario de intercepción aérea con misil </a:t>
            </a:r>
            <a:r>
              <a:rPr lang="es-MX" dirty="0" err="1"/>
              <a:t>bietápico</a:t>
            </a:r>
            <a:r>
              <a:rPr lang="es-MX" dirty="0"/>
              <a:t> en Python, calculando los parámetros de impacto y validando las deducciones analíticas en tiempo real.</a:t>
            </a:r>
            <a:endParaRPr lang="es-ES" dirty="0"/>
          </a:p>
        </p:txBody>
      </p:sp>
      <p:sp>
        <p:nvSpPr>
          <p:cNvPr id="4" name="Marcador de contenido 3"/>
          <p:cNvSpPr>
            <a:spLocks noGrp="1"/>
          </p:cNvSpPr>
          <p:nvPr>
            <p:ph sz="half" idx="2"/>
          </p:nvPr>
        </p:nvSpPr>
        <p:spPr>
          <a:xfrm>
            <a:off x="5660873" y="2523240"/>
            <a:ext cx="5043480" cy="3597124"/>
          </a:xfrm>
        </p:spPr>
        <p:txBody>
          <a:bodyPr>
            <a:normAutofit fontScale="70000" lnSpcReduction="20000"/>
          </a:bodyPr>
          <a:lstStyle/>
          <a:p>
            <a:pPr marL="0" indent="0" algn="ctr">
              <a:buNone/>
            </a:pPr>
            <a:r>
              <a:rPr lang="es-ES" sz="2400" b="1" dirty="0"/>
              <a:t>Objetivos Específicos</a:t>
            </a:r>
            <a:endParaRPr lang="es-ES" dirty="0"/>
          </a:p>
          <a:p>
            <a:pPr marL="457200" indent="-457200">
              <a:buFont typeface="+mj-lt"/>
              <a:buAutoNum type="arabicPeriod"/>
            </a:pPr>
            <a:r>
              <a:rPr lang="es-MX" dirty="0"/>
              <a:t>Deducir las ecuaciones de movimiento x(t) y v(t) para el caza A, el blanco B y el misil Aim-120C-5 en sus tres fases (retardo FCS, propulsión y crucero).</a:t>
            </a:r>
          </a:p>
          <a:p>
            <a:pPr marL="457200" indent="-457200">
              <a:buFont typeface="+mj-lt"/>
              <a:buAutoNum type="arabicPeriod"/>
            </a:pPr>
            <a:r>
              <a:rPr lang="es-MX" dirty="0"/>
              <a:t>Calcular analíticamente el tiempo total de vuelo del misil y la distancia horizontal total recorrida hasta el impacto</a:t>
            </a:r>
          </a:p>
          <a:p>
            <a:pPr marL="457200" indent="-457200">
              <a:buFont typeface="+mj-lt"/>
              <a:buAutoNum type="arabicPeriod"/>
            </a:pPr>
            <a:r>
              <a:rPr lang="es-MX" dirty="0"/>
              <a:t>Desarrollar una simulación interactiva en Python con visualización en tiempo real de la escena táctica 2D, perfil de altitud y curvas de telemetría</a:t>
            </a:r>
          </a:p>
          <a:p>
            <a:pPr marL="457200" indent="-457200">
              <a:buFont typeface="+mj-lt"/>
              <a:buAutoNum type="arabicPeriod"/>
            </a:pPr>
            <a:r>
              <a:rPr lang="es-MX" dirty="0"/>
              <a:t>Contrastar los resultados analíticos con la simulación y registros de telemetría en </a:t>
            </a:r>
            <a:r>
              <a:rPr lang="es-MX" dirty="0" err="1"/>
              <a:t>War</a:t>
            </a:r>
            <a:r>
              <a:rPr lang="es-MX" dirty="0"/>
              <a:t> </a:t>
            </a:r>
            <a:r>
              <a:rPr lang="es-MX" dirty="0" err="1"/>
              <a:t>Thunder</a:t>
            </a:r>
            <a:r>
              <a:rPr lang="es-MX" dirty="0"/>
              <a:t>, evaluando el porcentaje de error relativo.</a:t>
            </a:r>
          </a:p>
          <a:p>
            <a:pPr marL="0" indent="0">
              <a:buNone/>
            </a:pPr>
            <a:endParaRPr lang="es-MX" dirty="0"/>
          </a:p>
        </p:txBody>
      </p:sp>
    </p:spTree>
    <p:extLst>
      <p:ext uri="{BB962C8B-B14F-4D97-AF65-F5344CB8AC3E}">
        <p14:creationId xmlns:p14="http://schemas.microsoft.com/office/powerpoint/2010/main" val="3399502977"/>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heel(1)">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53" presetClass="entr" presetSubtype="16"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 calcmode="lin" valueType="num">
                                      <p:cBhvr>
                                        <p:cTn id="12" dur="500" fill="hold"/>
                                        <p:tgtEl>
                                          <p:spTgt spid="3">
                                            <p:txEl>
                                              <p:pRg st="0" end="0"/>
                                            </p:txEl>
                                          </p:spTgt>
                                        </p:tgtEl>
                                        <p:attrNameLst>
                                          <p:attrName>ppt_w</p:attrName>
                                        </p:attrNameLst>
                                      </p:cBhvr>
                                      <p:tavLst>
                                        <p:tav tm="0">
                                          <p:val>
                                            <p:fltVal val="0"/>
                                          </p:val>
                                        </p:tav>
                                        <p:tav tm="100000">
                                          <p:val>
                                            <p:strVal val="#ppt_w"/>
                                          </p:val>
                                        </p:tav>
                                      </p:tavLst>
                                    </p:anim>
                                    <p:anim calcmode="lin" valueType="num">
                                      <p:cBhvr>
                                        <p:cTn id="13" dur="500" fill="hold"/>
                                        <p:tgtEl>
                                          <p:spTgt spid="3">
                                            <p:txEl>
                                              <p:pRg st="0" end="0"/>
                                            </p:txEl>
                                          </p:spTgt>
                                        </p:tgtEl>
                                        <p:attrNameLst>
                                          <p:attrName>ppt_h</p:attrName>
                                        </p:attrNameLst>
                                      </p:cBhvr>
                                      <p:tavLst>
                                        <p:tav tm="0">
                                          <p:val>
                                            <p:fltVal val="0"/>
                                          </p:val>
                                        </p:tav>
                                        <p:tav tm="100000">
                                          <p:val>
                                            <p:strVal val="#ppt_h"/>
                                          </p:val>
                                        </p:tav>
                                      </p:tavLst>
                                    </p:anim>
                                    <p:animEffect transition="in" filter="fade">
                                      <p:cBhvr>
                                        <p:cTn id="14" dur="500"/>
                                        <p:tgtEl>
                                          <p:spTgt spid="3">
                                            <p:txEl>
                                              <p:pRg st="0" end="0"/>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53" presetClass="entr" presetSubtype="16" fill="hold" grpId="0"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anim calcmode="lin" valueType="num">
                                      <p:cBhvr>
                                        <p:cTn id="19" dur="500" fill="hold"/>
                                        <p:tgtEl>
                                          <p:spTgt spid="3">
                                            <p:txEl>
                                              <p:pRg st="1" end="1"/>
                                            </p:txEl>
                                          </p:spTgt>
                                        </p:tgtEl>
                                        <p:attrNameLst>
                                          <p:attrName>ppt_w</p:attrName>
                                        </p:attrNameLst>
                                      </p:cBhvr>
                                      <p:tavLst>
                                        <p:tav tm="0">
                                          <p:val>
                                            <p:fltVal val="0"/>
                                          </p:val>
                                        </p:tav>
                                        <p:tav tm="100000">
                                          <p:val>
                                            <p:strVal val="#ppt_w"/>
                                          </p:val>
                                        </p:tav>
                                      </p:tavLst>
                                    </p:anim>
                                    <p:anim calcmode="lin" valueType="num">
                                      <p:cBhvr>
                                        <p:cTn id="20" dur="500" fill="hold"/>
                                        <p:tgtEl>
                                          <p:spTgt spid="3">
                                            <p:txEl>
                                              <p:pRg st="1" end="1"/>
                                            </p:txEl>
                                          </p:spTgt>
                                        </p:tgtEl>
                                        <p:attrNameLst>
                                          <p:attrName>ppt_h</p:attrName>
                                        </p:attrNameLst>
                                      </p:cBhvr>
                                      <p:tavLst>
                                        <p:tav tm="0">
                                          <p:val>
                                            <p:fltVal val="0"/>
                                          </p:val>
                                        </p:tav>
                                        <p:tav tm="100000">
                                          <p:val>
                                            <p:strVal val="#ppt_h"/>
                                          </p:val>
                                        </p:tav>
                                      </p:tavLst>
                                    </p:anim>
                                    <p:animEffect transition="in" filter="fade">
                                      <p:cBhvr>
                                        <p:cTn id="21" dur="500"/>
                                        <p:tgtEl>
                                          <p:spTgt spid="3">
                                            <p:txEl>
                                              <p:pRg st="1" end="1"/>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53" presetClass="entr" presetSubtype="16" fill="hold" grpId="0" nodeType="clickEffect">
                                  <p:stCondLst>
                                    <p:cond delay="0"/>
                                  </p:stCondLst>
                                  <p:childTnLst>
                                    <p:set>
                                      <p:cBhvr>
                                        <p:cTn id="25" dur="1" fill="hold">
                                          <p:stCondLst>
                                            <p:cond delay="0"/>
                                          </p:stCondLst>
                                        </p:cTn>
                                        <p:tgtEl>
                                          <p:spTgt spid="4">
                                            <p:txEl>
                                              <p:pRg st="0" end="0"/>
                                            </p:txEl>
                                          </p:spTgt>
                                        </p:tgtEl>
                                        <p:attrNameLst>
                                          <p:attrName>style.visibility</p:attrName>
                                        </p:attrNameLst>
                                      </p:cBhvr>
                                      <p:to>
                                        <p:strVal val="visible"/>
                                      </p:to>
                                    </p:set>
                                    <p:anim calcmode="lin" valueType="num">
                                      <p:cBhvr>
                                        <p:cTn id="26" dur="500" fill="hold"/>
                                        <p:tgtEl>
                                          <p:spTgt spid="4">
                                            <p:txEl>
                                              <p:pRg st="0" end="0"/>
                                            </p:txEl>
                                          </p:spTgt>
                                        </p:tgtEl>
                                        <p:attrNameLst>
                                          <p:attrName>ppt_w</p:attrName>
                                        </p:attrNameLst>
                                      </p:cBhvr>
                                      <p:tavLst>
                                        <p:tav tm="0">
                                          <p:val>
                                            <p:fltVal val="0"/>
                                          </p:val>
                                        </p:tav>
                                        <p:tav tm="100000">
                                          <p:val>
                                            <p:strVal val="#ppt_w"/>
                                          </p:val>
                                        </p:tav>
                                      </p:tavLst>
                                    </p:anim>
                                    <p:anim calcmode="lin" valueType="num">
                                      <p:cBhvr>
                                        <p:cTn id="27" dur="500" fill="hold"/>
                                        <p:tgtEl>
                                          <p:spTgt spid="4">
                                            <p:txEl>
                                              <p:pRg st="0" end="0"/>
                                            </p:txEl>
                                          </p:spTgt>
                                        </p:tgtEl>
                                        <p:attrNameLst>
                                          <p:attrName>ppt_h</p:attrName>
                                        </p:attrNameLst>
                                      </p:cBhvr>
                                      <p:tavLst>
                                        <p:tav tm="0">
                                          <p:val>
                                            <p:fltVal val="0"/>
                                          </p:val>
                                        </p:tav>
                                        <p:tav tm="100000">
                                          <p:val>
                                            <p:strVal val="#ppt_h"/>
                                          </p:val>
                                        </p:tav>
                                      </p:tavLst>
                                    </p:anim>
                                    <p:animEffect transition="in" filter="fade">
                                      <p:cBhvr>
                                        <p:cTn id="28" dur="500"/>
                                        <p:tgtEl>
                                          <p:spTgt spid="4">
                                            <p:txEl>
                                              <p:pRg st="0" end="0"/>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53" presetClass="entr" presetSubtype="16" fill="hold" grpId="0" nodeType="clickEffect">
                                  <p:stCondLst>
                                    <p:cond delay="0"/>
                                  </p:stCondLst>
                                  <p:childTnLst>
                                    <p:set>
                                      <p:cBhvr>
                                        <p:cTn id="32" dur="1" fill="hold">
                                          <p:stCondLst>
                                            <p:cond delay="0"/>
                                          </p:stCondLst>
                                        </p:cTn>
                                        <p:tgtEl>
                                          <p:spTgt spid="4">
                                            <p:txEl>
                                              <p:pRg st="1" end="1"/>
                                            </p:txEl>
                                          </p:spTgt>
                                        </p:tgtEl>
                                        <p:attrNameLst>
                                          <p:attrName>style.visibility</p:attrName>
                                        </p:attrNameLst>
                                      </p:cBhvr>
                                      <p:to>
                                        <p:strVal val="visible"/>
                                      </p:to>
                                    </p:set>
                                    <p:anim calcmode="lin" valueType="num">
                                      <p:cBhvr>
                                        <p:cTn id="33" dur="500" fill="hold"/>
                                        <p:tgtEl>
                                          <p:spTgt spid="4">
                                            <p:txEl>
                                              <p:pRg st="1" end="1"/>
                                            </p:txEl>
                                          </p:spTgt>
                                        </p:tgtEl>
                                        <p:attrNameLst>
                                          <p:attrName>ppt_w</p:attrName>
                                        </p:attrNameLst>
                                      </p:cBhvr>
                                      <p:tavLst>
                                        <p:tav tm="0">
                                          <p:val>
                                            <p:fltVal val="0"/>
                                          </p:val>
                                        </p:tav>
                                        <p:tav tm="100000">
                                          <p:val>
                                            <p:strVal val="#ppt_w"/>
                                          </p:val>
                                        </p:tav>
                                      </p:tavLst>
                                    </p:anim>
                                    <p:anim calcmode="lin" valueType="num">
                                      <p:cBhvr>
                                        <p:cTn id="34" dur="500" fill="hold"/>
                                        <p:tgtEl>
                                          <p:spTgt spid="4">
                                            <p:txEl>
                                              <p:pRg st="1" end="1"/>
                                            </p:txEl>
                                          </p:spTgt>
                                        </p:tgtEl>
                                        <p:attrNameLst>
                                          <p:attrName>ppt_h</p:attrName>
                                        </p:attrNameLst>
                                      </p:cBhvr>
                                      <p:tavLst>
                                        <p:tav tm="0">
                                          <p:val>
                                            <p:fltVal val="0"/>
                                          </p:val>
                                        </p:tav>
                                        <p:tav tm="100000">
                                          <p:val>
                                            <p:strVal val="#ppt_h"/>
                                          </p:val>
                                        </p:tav>
                                      </p:tavLst>
                                    </p:anim>
                                    <p:animEffect transition="in" filter="fade">
                                      <p:cBhvr>
                                        <p:cTn id="35" dur="500"/>
                                        <p:tgtEl>
                                          <p:spTgt spid="4">
                                            <p:txEl>
                                              <p:pRg st="1" end="1"/>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53" presetClass="entr" presetSubtype="16" fill="hold" grpId="0" nodeType="clickEffect">
                                  <p:stCondLst>
                                    <p:cond delay="0"/>
                                  </p:stCondLst>
                                  <p:childTnLst>
                                    <p:set>
                                      <p:cBhvr>
                                        <p:cTn id="39" dur="1" fill="hold">
                                          <p:stCondLst>
                                            <p:cond delay="0"/>
                                          </p:stCondLst>
                                        </p:cTn>
                                        <p:tgtEl>
                                          <p:spTgt spid="4">
                                            <p:txEl>
                                              <p:pRg st="2" end="2"/>
                                            </p:txEl>
                                          </p:spTgt>
                                        </p:tgtEl>
                                        <p:attrNameLst>
                                          <p:attrName>style.visibility</p:attrName>
                                        </p:attrNameLst>
                                      </p:cBhvr>
                                      <p:to>
                                        <p:strVal val="visible"/>
                                      </p:to>
                                    </p:set>
                                    <p:anim calcmode="lin" valueType="num">
                                      <p:cBhvr>
                                        <p:cTn id="40" dur="500" fill="hold"/>
                                        <p:tgtEl>
                                          <p:spTgt spid="4">
                                            <p:txEl>
                                              <p:pRg st="2" end="2"/>
                                            </p:txEl>
                                          </p:spTgt>
                                        </p:tgtEl>
                                        <p:attrNameLst>
                                          <p:attrName>ppt_w</p:attrName>
                                        </p:attrNameLst>
                                      </p:cBhvr>
                                      <p:tavLst>
                                        <p:tav tm="0">
                                          <p:val>
                                            <p:fltVal val="0"/>
                                          </p:val>
                                        </p:tav>
                                        <p:tav tm="100000">
                                          <p:val>
                                            <p:strVal val="#ppt_w"/>
                                          </p:val>
                                        </p:tav>
                                      </p:tavLst>
                                    </p:anim>
                                    <p:anim calcmode="lin" valueType="num">
                                      <p:cBhvr>
                                        <p:cTn id="41" dur="500" fill="hold"/>
                                        <p:tgtEl>
                                          <p:spTgt spid="4">
                                            <p:txEl>
                                              <p:pRg st="2" end="2"/>
                                            </p:txEl>
                                          </p:spTgt>
                                        </p:tgtEl>
                                        <p:attrNameLst>
                                          <p:attrName>ppt_h</p:attrName>
                                        </p:attrNameLst>
                                      </p:cBhvr>
                                      <p:tavLst>
                                        <p:tav tm="0">
                                          <p:val>
                                            <p:fltVal val="0"/>
                                          </p:val>
                                        </p:tav>
                                        <p:tav tm="100000">
                                          <p:val>
                                            <p:strVal val="#ppt_h"/>
                                          </p:val>
                                        </p:tav>
                                      </p:tavLst>
                                    </p:anim>
                                    <p:animEffect transition="in" filter="fade">
                                      <p:cBhvr>
                                        <p:cTn id="42" dur="500"/>
                                        <p:tgtEl>
                                          <p:spTgt spid="4">
                                            <p:txEl>
                                              <p:pRg st="2" end="2"/>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53" presetClass="entr" presetSubtype="16" fill="hold" grpId="0" nodeType="clickEffect">
                                  <p:stCondLst>
                                    <p:cond delay="0"/>
                                  </p:stCondLst>
                                  <p:childTnLst>
                                    <p:set>
                                      <p:cBhvr>
                                        <p:cTn id="46" dur="1" fill="hold">
                                          <p:stCondLst>
                                            <p:cond delay="0"/>
                                          </p:stCondLst>
                                        </p:cTn>
                                        <p:tgtEl>
                                          <p:spTgt spid="4">
                                            <p:txEl>
                                              <p:pRg st="3" end="3"/>
                                            </p:txEl>
                                          </p:spTgt>
                                        </p:tgtEl>
                                        <p:attrNameLst>
                                          <p:attrName>style.visibility</p:attrName>
                                        </p:attrNameLst>
                                      </p:cBhvr>
                                      <p:to>
                                        <p:strVal val="visible"/>
                                      </p:to>
                                    </p:set>
                                    <p:anim calcmode="lin" valueType="num">
                                      <p:cBhvr>
                                        <p:cTn id="47" dur="500" fill="hold"/>
                                        <p:tgtEl>
                                          <p:spTgt spid="4">
                                            <p:txEl>
                                              <p:pRg st="3" end="3"/>
                                            </p:txEl>
                                          </p:spTgt>
                                        </p:tgtEl>
                                        <p:attrNameLst>
                                          <p:attrName>ppt_w</p:attrName>
                                        </p:attrNameLst>
                                      </p:cBhvr>
                                      <p:tavLst>
                                        <p:tav tm="0">
                                          <p:val>
                                            <p:fltVal val="0"/>
                                          </p:val>
                                        </p:tav>
                                        <p:tav tm="100000">
                                          <p:val>
                                            <p:strVal val="#ppt_w"/>
                                          </p:val>
                                        </p:tav>
                                      </p:tavLst>
                                    </p:anim>
                                    <p:anim calcmode="lin" valueType="num">
                                      <p:cBhvr>
                                        <p:cTn id="48" dur="500" fill="hold"/>
                                        <p:tgtEl>
                                          <p:spTgt spid="4">
                                            <p:txEl>
                                              <p:pRg st="3" end="3"/>
                                            </p:txEl>
                                          </p:spTgt>
                                        </p:tgtEl>
                                        <p:attrNameLst>
                                          <p:attrName>ppt_h</p:attrName>
                                        </p:attrNameLst>
                                      </p:cBhvr>
                                      <p:tavLst>
                                        <p:tav tm="0">
                                          <p:val>
                                            <p:fltVal val="0"/>
                                          </p:val>
                                        </p:tav>
                                        <p:tav tm="100000">
                                          <p:val>
                                            <p:strVal val="#ppt_h"/>
                                          </p:val>
                                        </p:tav>
                                      </p:tavLst>
                                    </p:anim>
                                    <p:animEffect transition="in" filter="fade">
                                      <p:cBhvr>
                                        <p:cTn id="49" dur="500"/>
                                        <p:tgtEl>
                                          <p:spTgt spid="4">
                                            <p:txEl>
                                              <p:pRg st="3" end="3"/>
                                            </p:txEl>
                                          </p:spTgt>
                                        </p:tgtEl>
                                      </p:cBhvr>
                                    </p:animEffect>
                                  </p:childTnLst>
                                </p:cTn>
                              </p:par>
                            </p:childTnLst>
                          </p:cTn>
                        </p:par>
                      </p:childTnLst>
                    </p:cTn>
                  </p:par>
                  <p:par>
                    <p:cTn id="50" fill="hold">
                      <p:stCondLst>
                        <p:cond delay="indefinite"/>
                      </p:stCondLst>
                      <p:childTnLst>
                        <p:par>
                          <p:cTn id="51" fill="hold">
                            <p:stCondLst>
                              <p:cond delay="0"/>
                            </p:stCondLst>
                            <p:childTnLst>
                              <p:par>
                                <p:cTn id="52" presetID="53" presetClass="entr" presetSubtype="16" fill="hold" grpId="0" nodeType="clickEffect">
                                  <p:stCondLst>
                                    <p:cond delay="0"/>
                                  </p:stCondLst>
                                  <p:childTnLst>
                                    <p:set>
                                      <p:cBhvr>
                                        <p:cTn id="53" dur="1" fill="hold">
                                          <p:stCondLst>
                                            <p:cond delay="0"/>
                                          </p:stCondLst>
                                        </p:cTn>
                                        <p:tgtEl>
                                          <p:spTgt spid="4">
                                            <p:txEl>
                                              <p:pRg st="4" end="4"/>
                                            </p:txEl>
                                          </p:spTgt>
                                        </p:tgtEl>
                                        <p:attrNameLst>
                                          <p:attrName>style.visibility</p:attrName>
                                        </p:attrNameLst>
                                      </p:cBhvr>
                                      <p:to>
                                        <p:strVal val="visible"/>
                                      </p:to>
                                    </p:set>
                                    <p:anim calcmode="lin" valueType="num">
                                      <p:cBhvr>
                                        <p:cTn id="54" dur="500" fill="hold"/>
                                        <p:tgtEl>
                                          <p:spTgt spid="4">
                                            <p:txEl>
                                              <p:pRg st="4" end="4"/>
                                            </p:txEl>
                                          </p:spTgt>
                                        </p:tgtEl>
                                        <p:attrNameLst>
                                          <p:attrName>ppt_w</p:attrName>
                                        </p:attrNameLst>
                                      </p:cBhvr>
                                      <p:tavLst>
                                        <p:tav tm="0">
                                          <p:val>
                                            <p:fltVal val="0"/>
                                          </p:val>
                                        </p:tav>
                                        <p:tav tm="100000">
                                          <p:val>
                                            <p:strVal val="#ppt_w"/>
                                          </p:val>
                                        </p:tav>
                                      </p:tavLst>
                                    </p:anim>
                                    <p:anim calcmode="lin" valueType="num">
                                      <p:cBhvr>
                                        <p:cTn id="55" dur="500" fill="hold"/>
                                        <p:tgtEl>
                                          <p:spTgt spid="4">
                                            <p:txEl>
                                              <p:pRg st="4" end="4"/>
                                            </p:txEl>
                                          </p:spTgt>
                                        </p:tgtEl>
                                        <p:attrNameLst>
                                          <p:attrName>ppt_h</p:attrName>
                                        </p:attrNameLst>
                                      </p:cBhvr>
                                      <p:tavLst>
                                        <p:tav tm="0">
                                          <p:val>
                                            <p:fltVal val="0"/>
                                          </p:val>
                                        </p:tav>
                                        <p:tav tm="100000">
                                          <p:val>
                                            <p:strVal val="#ppt_h"/>
                                          </p:val>
                                        </p:tav>
                                      </p:tavLst>
                                    </p:anim>
                                    <p:animEffect transition="in" filter="fade">
                                      <p:cBhvr>
                                        <p:cTn id="56" dur="500"/>
                                        <p:tgtEl>
                                          <p:spTgt spid="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4"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p:txBody>
          <a:bodyPr/>
          <a:lstStyle/>
          <a:p>
            <a:r>
              <a:rPr lang="es-ES" dirty="0"/>
              <a:t>Introducción</a:t>
            </a:r>
          </a:p>
        </p:txBody>
      </p:sp>
    </p:spTree>
    <p:extLst>
      <p:ext uri="{BB962C8B-B14F-4D97-AF65-F5344CB8AC3E}">
        <p14:creationId xmlns:p14="http://schemas.microsoft.com/office/powerpoint/2010/main" val="746662441"/>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5" presetClass="emph" presetSubtype="0" grpId="0" nodeType="clickEffect">
                                  <p:stCondLst>
                                    <p:cond delay="0"/>
                                  </p:stCondLst>
                                  <p:iterate type="lt">
                                    <p:tmAbs val="25"/>
                                  </p:iterate>
                                  <p:childTnLst>
                                    <p:set>
                                      <p:cBhvr override="childStyle">
                                        <p:cTn id="6" dur="indefinite"/>
                                        <p:tgtEl>
                                          <p:spTgt spid="2"/>
                                        </p:tgtEl>
                                        <p:attrNameLst>
                                          <p:attrName>style.fontWeight</p:attrName>
                                        </p:attrNameLst>
                                      </p:cBhvr>
                                      <p:to>
                                        <p:strVal val="bol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z="6000" b="1" dirty="0"/>
              <a:t>Cinemática</a:t>
            </a:r>
          </a:p>
        </p:txBody>
      </p:sp>
      <p:sp>
        <p:nvSpPr>
          <p:cNvPr id="3" name="Marcador de contenido 2"/>
          <p:cNvSpPr>
            <a:spLocks noGrp="1"/>
          </p:cNvSpPr>
          <p:nvPr>
            <p:ph idx="1"/>
          </p:nvPr>
        </p:nvSpPr>
        <p:spPr/>
        <p:txBody>
          <a:bodyPr/>
          <a:lstStyle/>
          <a:p>
            <a:pPr marL="0" indent="0">
              <a:buNone/>
            </a:pPr>
            <a:r>
              <a:rPr lang="es-MX" dirty="0"/>
              <a:t>La cinemática es una rama de la física que </a:t>
            </a:r>
            <a:r>
              <a:rPr lang="es-MX" b="1" dirty="0"/>
              <a:t>estudia el movimiento de los objetos sólidos y su trayectoria en función del tiempo</a:t>
            </a:r>
            <a:r>
              <a:rPr lang="es-MX" dirty="0"/>
              <a:t>, sin tomar en cuenta el origen de las fuerzas que lo motivan. Para eso, se toma en consideración la velocidad (el cambio en el desplazamiento por unidad de tiempo y la </a:t>
            </a:r>
            <a:r>
              <a:rPr lang="es-MX" dirty="0" err="1"/>
              <a:t>aceleracion</a:t>
            </a:r>
            <a:r>
              <a:rPr lang="es-MX" dirty="0"/>
              <a:t> (cambio de velocidad) del objeto que se mueve.</a:t>
            </a:r>
            <a:endParaRPr lang="es-ES" dirty="0"/>
          </a:p>
        </p:txBody>
      </p:sp>
    </p:spTree>
    <p:extLst>
      <p:ext uri="{BB962C8B-B14F-4D97-AF65-F5344CB8AC3E}">
        <p14:creationId xmlns:p14="http://schemas.microsoft.com/office/powerpoint/2010/main" val="68147838"/>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mph" presetSubtype="0" fill="hold" grpId="0" nodeType="clickEffect">
                                  <p:stCondLst>
                                    <p:cond delay="0"/>
                                  </p:stCondLst>
                                  <p:childTnLst>
                                    <p:animScale>
                                      <p:cBhvr>
                                        <p:cTn id="6" dur="2000" fill="hold"/>
                                        <p:tgtEl>
                                          <p:spTgt spid="2"/>
                                        </p:tgtEl>
                                      </p:cBhvr>
                                      <p:by x="150000" y="150000"/>
                                    </p:animScale>
                                  </p:childTnLst>
                                </p:cTn>
                              </p:par>
                            </p:childTnLst>
                          </p:cTn>
                        </p:par>
                      </p:childTnLst>
                    </p:cTn>
                  </p:par>
                  <p:par>
                    <p:cTn id="7" fill="hold">
                      <p:stCondLst>
                        <p:cond delay="indefinite"/>
                      </p:stCondLst>
                      <p:childTnLst>
                        <p:par>
                          <p:cTn id="8" fill="hold">
                            <p:stCondLst>
                              <p:cond delay="0"/>
                            </p:stCondLst>
                            <p:childTnLst>
                              <p:par>
                                <p:cTn id="9" presetID="53" presetClass="entr" presetSubtype="16"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anim calcmode="lin" valueType="num">
                                      <p:cBhvr>
                                        <p:cTn id="11" dur="500" fill="hold"/>
                                        <p:tgtEl>
                                          <p:spTgt spid="3">
                                            <p:txEl>
                                              <p:pRg st="0" end="0"/>
                                            </p:txEl>
                                          </p:spTgt>
                                        </p:tgtEl>
                                        <p:attrNameLst>
                                          <p:attrName>ppt_w</p:attrName>
                                        </p:attrNameLst>
                                      </p:cBhvr>
                                      <p:tavLst>
                                        <p:tav tm="0">
                                          <p:val>
                                            <p:fltVal val="0"/>
                                          </p:val>
                                        </p:tav>
                                        <p:tav tm="100000">
                                          <p:val>
                                            <p:strVal val="#ppt_w"/>
                                          </p:val>
                                        </p:tav>
                                      </p:tavLst>
                                    </p:anim>
                                    <p:anim calcmode="lin" valueType="num">
                                      <p:cBhvr>
                                        <p:cTn id="12" dur="500" fill="hold"/>
                                        <p:tgtEl>
                                          <p:spTgt spid="3">
                                            <p:txEl>
                                              <p:pRg st="0" end="0"/>
                                            </p:txEl>
                                          </p:spTgt>
                                        </p:tgtEl>
                                        <p:attrNameLst>
                                          <p:attrName>ppt_h</p:attrName>
                                        </p:attrNameLst>
                                      </p:cBhvr>
                                      <p:tavLst>
                                        <p:tav tm="0">
                                          <p:val>
                                            <p:fltVal val="0"/>
                                          </p:val>
                                        </p:tav>
                                        <p:tav tm="100000">
                                          <p:val>
                                            <p:strVal val="#ppt_h"/>
                                          </p:val>
                                        </p:tav>
                                      </p:tavLst>
                                    </p:anim>
                                    <p:animEffect transition="in" filter="fade">
                                      <p:cBhvr>
                                        <p:cTn id="13"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t>Movimiento Rectilíneo Uniforme (MRU)</a:t>
            </a:r>
          </a:p>
        </p:txBody>
      </p:sp>
      <p:sp>
        <p:nvSpPr>
          <p:cNvPr id="3" name="Marcador de contenido 2"/>
          <p:cNvSpPr>
            <a:spLocks noGrp="1"/>
          </p:cNvSpPr>
          <p:nvPr>
            <p:ph idx="1"/>
          </p:nvPr>
        </p:nvSpPr>
        <p:spPr>
          <a:xfrm>
            <a:off x="1212084" y="2436165"/>
            <a:ext cx="8946541" cy="4195481"/>
          </a:xfrm>
        </p:spPr>
        <p:txBody>
          <a:bodyPr>
            <a:normAutofit/>
          </a:bodyPr>
          <a:lstStyle/>
          <a:p>
            <a:r>
              <a:rPr lang="es-MX" sz="2800" dirty="0"/>
              <a:t>El movimiento rectilíneo uniforme o MRU describe el desplazamiento de un objeto en una sola dirección con una velocidad constante. Es decir, su velocidad no cambia a lo largo del tiempo y distancia recorrida.</a:t>
            </a:r>
            <a:endParaRPr lang="es-ES" sz="2800" dirty="0"/>
          </a:p>
        </p:txBody>
      </p:sp>
    </p:spTree>
    <p:extLst>
      <p:ext uri="{BB962C8B-B14F-4D97-AF65-F5344CB8AC3E}">
        <p14:creationId xmlns:p14="http://schemas.microsoft.com/office/powerpoint/2010/main" val="1661434812"/>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7" presetClass="emph" presetSubtype="0" fill="remove" nodeType="clickEffect">
                                  <p:stCondLst>
                                    <p:cond delay="0"/>
                                  </p:stCondLst>
                                  <p:childTnLst>
                                    <p:animClr clrSpc="rgb" dir="cw">
                                      <p:cBhvr override="childStyle">
                                        <p:cTn id="11" dur="250" autoRev="1" fill="remove"/>
                                        <p:tgtEl>
                                          <p:spTgt spid="3">
                                            <p:txEl>
                                              <p:pRg st="0" end="0"/>
                                            </p:txEl>
                                          </p:spTgt>
                                        </p:tgtEl>
                                        <p:attrNameLst>
                                          <p:attrName>style.color</p:attrName>
                                        </p:attrNameLst>
                                      </p:cBhvr>
                                      <p:to>
                                        <a:schemeClr val="bg1"/>
                                      </p:to>
                                    </p:animClr>
                                    <p:animClr clrSpc="rgb" dir="cw">
                                      <p:cBhvr>
                                        <p:cTn id="12" dur="250" autoRev="1" fill="remove"/>
                                        <p:tgtEl>
                                          <p:spTgt spid="3">
                                            <p:txEl>
                                              <p:pRg st="0" end="0"/>
                                            </p:txEl>
                                          </p:spTgt>
                                        </p:tgtEl>
                                        <p:attrNameLst>
                                          <p:attrName>fillcolor</p:attrName>
                                        </p:attrNameLst>
                                      </p:cBhvr>
                                      <p:to>
                                        <a:schemeClr val="bg1"/>
                                      </p:to>
                                    </p:animClr>
                                    <p:set>
                                      <p:cBhvr>
                                        <p:cTn id="13" dur="250" autoRev="1" fill="remove"/>
                                        <p:tgtEl>
                                          <p:spTgt spid="3">
                                            <p:txEl>
                                              <p:pRg st="0" end="0"/>
                                            </p:txEl>
                                          </p:spTgt>
                                        </p:tgtEl>
                                        <p:attrNameLst>
                                          <p:attrName>fill.type</p:attrName>
                                        </p:attrNameLst>
                                      </p:cBhvr>
                                      <p:to>
                                        <p:strVal val="solid"/>
                                      </p:to>
                                    </p:set>
                                    <p:set>
                                      <p:cBhvr>
                                        <p:cTn id="14" dur="250" autoRev="1" fill="remove"/>
                                        <p:tgtEl>
                                          <p:spTgt spid="3">
                                            <p:txEl>
                                              <p:pRg st="0" end="0"/>
                                            </p:txEl>
                                          </p:spTgt>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fontScale="90000"/>
          </a:bodyPr>
          <a:lstStyle/>
          <a:p>
            <a:r>
              <a:rPr lang="es-ES" dirty="0"/>
              <a:t>Movimiento Rectilíneo Uniformemente Acelerado(MRUA)</a:t>
            </a:r>
          </a:p>
        </p:txBody>
      </p:sp>
      <p:sp>
        <p:nvSpPr>
          <p:cNvPr id="3" name="Marcador de contenido 2"/>
          <p:cNvSpPr>
            <a:spLocks noGrp="1"/>
          </p:cNvSpPr>
          <p:nvPr>
            <p:ph idx="1"/>
          </p:nvPr>
        </p:nvSpPr>
        <p:spPr>
          <a:xfrm>
            <a:off x="900368" y="2536537"/>
            <a:ext cx="10097599" cy="4195481"/>
          </a:xfrm>
        </p:spPr>
        <p:txBody>
          <a:bodyPr>
            <a:normAutofit/>
          </a:bodyPr>
          <a:lstStyle/>
          <a:p>
            <a:r>
              <a:rPr lang="es-MX" sz="2800" dirty="0"/>
              <a:t>El movimiento rectilíneo uniformemente acelerado (MRUA), es aquel en el que un móvil se desplaza sobre una trayectoria recta estando sometido a una aceleración constante. Es el movimiento de una partícula o cuerpo por una línea recta con una aceleración constante</a:t>
            </a:r>
            <a:endParaRPr lang="es-ES" sz="2800" dirty="0"/>
          </a:p>
        </p:txBody>
      </p:sp>
    </p:spTree>
    <p:extLst>
      <p:ext uri="{BB962C8B-B14F-4D97-AF65-F5344CB8AC3E}">
        <p14:creationId xmlns:p14="http://schemas.microsoft.com/office/powerpoint/2010/main" val="12752442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barn(inVertical)">
                                      <p:cBhvr>
                                        <p:cTn id="12"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2688165" y="1913467"/>
            <a:ext cx="6815669" cy="1515533"/>
          </a:xfrm>
        </p:spPr>
        <p:txBody>
          <a:bodyPr/>
          <a:lstStyle/>
          <a:p>
            <a:r>
              <a:rPr lang="es-ES" dirty="0"/>
              <a:t>Planteamiento del problema</a:t>
            </a:r>
          </a:p>
        </p:txBody>
      </p:sp>
    </p:spTree>
    <p:extLst>
      <p:ext uri="{BB962C8B-B14F-4D97-AF65-F5344CB8AC3E}">
        <p14:creationId xmlns:p14="http://schemas.microsoft.com/office/powerpoint/2010/main" val="3811444091"/>
      </p:ext>
    </p:extLst>
  </p:cSld>
  <p:clrMapOvr>
    <a:masterClrMapping/>
  </p:clrMapOvr>
  <p:transition spd="slow">
    <p:push dir="u"/>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304904" y="1074954"/>
            <a:ext cx="9601196" cy="1303867"/>
          </a:xfrm>
        </p:spPr>
        <p:txBody>
          <a:bodyPr/>
          <a:lstStyle/>
          <a:p>
            <a:r>
              <a:rPr lang="es-ES" dirty="0"/>
              <a:t>Intercepción aérea bidimensional</a:t>
            </a:r>
          </a:p>
        </p:txBody>
      </p:sp>
      <p:sp>
        <p:nvSpPr>
          <p:cNvPr id="3" name="Marcador de contenido 2"/>
          <p:cNvSpPr>
            <a:spLocks noGrp="1"/>
          </p:cNvSpPr>
          <p:nvPr>
            <p:ph idx="1"/>
          </p:nvPr>
        </p:nvSpPr>
        <p:spPr>
          <a:xfrm>
            <a:off x="1452154" y="2489700"/>
            <a:ext cx="9453946" cy="3625515"/>
          </a:xfrm>
        </p:spPr>
        <p:txBody>
          <a:bodyPr>
            <a:normAutofit fontScale="85000" lnSpcReduction="20000"/>
          </a:bodyPr>
          <a:lstStyle/>
          <a:p>
            <a:pPr marL="0" indent="0">
              <a:buNone/>
            </a:pPr>
            <a:r>
              <a:rPr lang="es-MX" dirty="0"/>
              <a:t>A una altitud constante de 3000 m, un caza </a:t>
            </a:r>
            <a:r>
              <a:rPr lang="es-MX" dirty="0" err="1"/>
              <a:t>Eurofighter</a:t>
            </a:r>
            <a:r>
              <a:rPr lang="es-MX" dirty="0"/>
              <a:t> </a:t>
            </a:r>
            <a:r>
              <a:rPr lang="es-MX" dirty="0" err="1"/>
              <a:t>Typhoon</a:t>
            </a:r>
            <a:r>
              <a:rPr lang="es-MX" dirty="0"/>
              <a:t> (Avión A) vuela horizontalmente a 900 km/h al encuentro de un objetivo hostil (Avión B) que avanza en sentido opuesto a 360 km/h. En el instante inicial t = 0 s, la separación entre ambos es de 9750 m.</a:t>
            </a:r>
          </a:p>
          <a:p>
            <a:pPr marL="0" indent="0">
              <a:buNone/>
            </a:pPr>
            <a:r>
              <a:rPr lang="es-MX" dirty="0"/>
              <a:t>Tras un tiempo de retardo del radar de t(s) = 5.0 s , el avión A lanza un misil AIM-120C-5 en dos fases</a:t>
            </a:r>
          </a:p>
          <a:p>
            <a:pPr marL="0" indent="0">
              <a:buNone/>
            </a:pPr>
            <a:r>
              <a:rPr lang="es-MX" dirty="0"/>
              <a:t>1. Fase Propulsada: Durante t(p) = 5.0 s, el motor cohete entrega una aceleración de 120 m/s², sumando a la velocidad inicial heredada del Avión A.</a:t>
            </a:r>
          </a:p>
          <a:p>
            <a:pPr marL="0" indent="0">
              <a:buNone/>
            </a:pPr>
            <a:r>
              <a:rPr lang="es-MX" dirty="0"/>
              <a:t>2. Fase de Crucero: Agotado el combustible, el misil mantiene su velocidad máxima alcanzada hasta el impacto.</a:t>
            </a:r>
          </a:p>
          <a:p>
            <a:pPr marL="0" indent="0">
              <a:buNone/>
            </a:pPr>
            <a:r>
              <a:rPr lang="es-MX" dirty="0"/>
              <a:t>Se fija el origen (0,0) en la posición del Avión A </a:t>
            </a:r>
            <a:r>
              <a:rPr lang="es-MX" dirty="0" err="1"/>
              <a:t>a</a:t>
            </a:r>
            <a:r>
              <a:rPr lang="es-MX" dirty="0"/>
              <a:t> t = 0 s, con el eje +X hacia la derecha.</a:t>
            </a:r>
          </a:p>
        </p:txBody>
      </p:sp>
    </p:spTree>
    <p:extLst>
      <p:ext uri="{BB962C8B-B14F-4D97-AF65-F5344CB8AC3E}">
        <p14:creationId xmlns:p14="http://schemas.microsoft.com/office/powerpoint/2010/main" val="108263708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3">
                                            <p:txEl>
                                              <p:pRg st="0" end="0"/>
                                            </p:txEl>
                                          </p:spTgt>
                                        </p:tgtEl>
                                      </p:cBhvr>
                                    </p:animEffect>
                                    <p:animScale>
                                      <p:cBhvr>
                                        <p:cTn id="7" dur="250" autoRev="1" fill="hold"/>
                                        <p:tgtEl>
                                          <p:spTgt spid="3">
                                            <p:txEl>
                                              <p:pRg st="0" end="0"/>
                                            </p:txEl>
                                          </p:spTgt>
                                        </p:tgtEl>
                                      </p:cBhvr>
                                      <p:by x="105000" y="105000"/>
                                    </p:animScale>
                                  </p:childTnLst>
                                </p:cTn>
                              </p:par>
                            </p:childTnLst>
                          </p:cTn>
                        </p:par>
                      </p:childTnLst>
                    </p:cTn>
                  </p:par>
                  <p:par>
                    <p:cTn id="8" fill="hold">
                      <p:stCondLst>
                        <p:cond delay="indefinite"/>
                      </p:stCondLst>
                      <p:childTnLst>
                        <p:par>
                          <p:cTn id="9" fill="hold">
                            <p:stCondLst>
                              <p:cond delay="0"/>
                            </p:stCondLst>
                            <p:childTnLst>
                              <p:par>
                                <p:cTn id="10" presetID="26" presetClass="emph" presetSubtype="0" fill="hold" grpId="0" nodeType="clickEffect">
                                  <p:stCondLst>
                                    <p:cond delay="0"/>
                                  </p:stCondLst>
                                  <p:childTnLst>
                                    <p:animEffect transition="out" filter="fade">
                                      <p:cBhvr>
                                        <p:cTn id="11" dur="500" tmFilter="0, 0; .2, .5; .8, .5; 1, 0"/>
                                        <p:tgtEl>
                                          <p:spTgt spid="3">
                                            <p:txEl>
                                              <p:pRg st="1" end="1"/>
                                            </p:txEl>
                                          </p:spTgt>
                                        </p:tgtEl>
                                      </p:cBhvr>
                                    </p:animEffect>
                                    <p:animScale>
                                      <p:cBhvr>
                                        <p:cTn id="12" dur="250" autoRev="1" fill="hold"/>
                                        <p:tgtEl>
                                          <p:spTgt spid="3">
                                            <p:txEl>
                                              <p:pRg st="1" end="1"/>
                                            </p:txEl>
                                          </p:spTgt>
                                        </p:tgtEl>
                                      </p:cBhvr>
                                      <p:by x="105000" y="105000"/>
                                    </p:animScale>
                                  </p:childTnLst>
                                </p:cTn>
                              </p:par>
                            </p:childTnLst>
                          </p:cTn>
                        </p:par>
                      </p:childTnLst>
                    </p:cTn>
                  </p:par>
                  <p:par>
                    <p:cTn id="13" fill="hold">
                      <p:stCondLst>
                        <p:cond delay="indefinite"/>
                      </p:stCondLst>
                      <p:childTnLst>
                        <p:par>
                          <p:cTn id="14" fill="hold">
                            <p:stCondLst>
                              <p:cond delay="0"/>
                            </p:stCondLst>
                            <p:childTnLst>
                              <p:par>
                                <p:cTn id="15" presetID="26" presetClass="emph" presetSubtype="0" fill="hold" grpId="0" nodeType="clickEffect">
                                  <p:stCondLst>
                                    <p:cond delay="0"/>
                                  </p:stCondLst>
                                  <p:childTnLst>
                                    <p:animEffect transition="out" filter="fade">
                                      <p:cBhvr>
                                        <p:cTn id="16" dur="500" tmFilter="0, 0; .2, .5; .8, .5; 1, 0"/>
                                        <p:tgtEl>
                                          <p:spTgt spid="3">
                                            <p:txEl>
                                              <p:pRg st="2" end="2"/>
                                            </p:txEl>
                                          </p:spTgt>
                                        </p:tgtEl>
                                      </p:cBhvr>
                                    </p:animEffect>
                                    <p:animScale>
                                      <p:cBhvr>
                                        <p:cTn id="17" dur="250" autoRev="1" fill="hold"/>
                                        <p:tgtEl>
                                          <p:spTgt spid="3">
                                            <p:txEl>
                                              <p:pRg st="2" end="2"/>
                                            </p:txEl>
                                          </p:spTgt>
                                        </p:tgtEl>
                                      </p:cBhvr>
                                      <p:by x="105000" y="105000"/>
                                    </p:animScale>
                                  </p:childTnLst>
                                </p:cTn>
                              </p:par>
                            </p:childTnLst>
                          </p:cTn>
                        </p:par>
                      </p:childTnLst>
                    </p:cTn>
                  </p:par>
                  <p:par>
                    <p:cTn id="18" fill="hold">
                      <p:stCondLst>
                        <p:cond delay="indefinite"/>
                      </p:stCondLst>
                      <p:childTnLst>
                        <p:par>
                          <p:cTn id="19" fill="hold">
                            <p:stCondLst>
                              <p:cond delay="0"/>
                            </p:stCondLst>
                            <p:childTnLst>
                              <p:par>
                                <p:cTn id="20" presetID="26" presetClass="emph" presetSubtype="0" fill="hold" grpId="0" nodeType="clickEffect">
                                  <p:stCondLst>
                                    <p:cond delay="0"/>
                                  </p:stCondLst>
                                  <p:childTnLst>
                                    <p:animEffect transition="out" filter="fade">
                                      <p:cBhvr>
                                        <p:cTn id="21" dur="500" tmFilter="0, 0; .2, .5; .8, .5; 1, 0"/>
                                        <p:tgtEl>
                                          <p:spTgt spid="3">
                                            <p:txEl>
                                              <p:pRg st="3" end="3"/>
                                            </p:txEl>
                                          </p:spTgt>
                                        </p:tgtEl>
                                      </p:cBhvr>
                                    </p:animEffect>
                                    <p:animScale>
                                      <p:cBhvr>
                                        <p:cTn id="22" dur="250" autoRev="1" fill="hold"/>
                                        <p:tgtEl>
                                          <p:spTgt spid="3">
                                            <p:txEl>
                                              <p:pRg st="3" end="3"/>
                                            </p:txEl>
                                          </p:spTgt>
                                        </p:tgtEl>
                                      </p:cBhvr>
                                      <p:by x="105000" y="105000"/>
                                    </p:animScale>
                                  </p:childTnLst>
                                </p:cTn>
                              </p:par>
                            </p:childTnLst>
                          </p:cTn>
                        </p:par>
                      </p:childTnLst>
                    </p:cTn>
                  </p:par>
                  <p:par>
                    <p:cTn id="23" fill="hold">
                      <p:stCondLst>
                        <p:cond delay="indefinite"/>
                      </p:stCondLst>
                      <p:childTnLst>
                        <p:par>
                          <p:cTn id="24" fill="hold">
                            <p:stCondLst>
                              <p:cond delay="0"/>
                            </p:stCondLst>
                            <p:childTnLst>
                              <p:par>
                                <p:cTn id="25" presetID="26" presetClass="emph" presetSubtype="0" fill="hold" grpId="0" nodeType="clickEffect">
                                  <p:stCondLst>
                                    <p:cond delay="0"/>
                                  </p:stCondLst>
                                  <p:childTnLst>
                                    <p:animEffect transition="out" filter="fade">
                                      <p:cBhvr>
                                        <p:cTn id="26" dur="500" tmFilter="0, 0; .2, .5; .8, .5; 1, 0"/>
                                        <p:tgtEl>
                                          <p:spTgt spid="3">
                                            <p:txEl>
                                              <p:pRg st="4" end="4"/>
                                            </p:txEl>
                                          </p:spTgt>
                                        </p:tgtEl>
                                      </p:cBhvr>
                                    </p:animEffect>
                                    <p:animScale>
                                      <p:cBhvr>
                                        <p:cTn id="27" dur="250" autoRev="1" fill="hold"/>
                                        <p:tgtEl>
                                          <p:spTgt spid="3">
                                            <p:txEl>
                                              <p:pRg st="4" end="4"/>
                                            </p:txEl>
                                          </p:spTgt>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66800" y="941203"/>
            <a:ext cx="10058400" cy="1450757"/>
          </a:xfrm>
        </p:spPr>
        <p:txBody>
          <a:bodyPr/>
          <a:lstStyle/>
          <a:p>
            <a:r>
              <a:rPr lang="es-ES" dirty="0"/>
              <a:t>Puntos a encontrar</a:t>
            </a:r>
          </a:p>
        </p:txBody>
      </p:sp>
      <p:sp>
        <p:nvSpPr>
          <p:cNvPr id="3" name="Marcador de contenido 2"/>
          <p:cNvSpPr>
            <a:spLocks noGrp="1"/>
          </p:cNvSpPr>
          <p:nvPr>
            <p:ph idx="1"/>
          </p:nvPr>
        </p:nvSpPr>
        <p:spPr>
          <a:xfrm>
            <a:off x="1622729" y="2662520"/>
            <a:ext cx="8946541" cy="2348868"/>
          </a:xfrm>
        </p:spPr>
        <p:txBody>
          <a:bodyPr>
            <a:normAutofit/>
          </a:bodyPr>
          <a:lstStyle/>
          <a:p>
            <a:pPr marL="0" indent="0">
              <a:buNone/>
            </a:pPr>
            <a:r>
              <a:rPr lang="es-MX" sz="2400" dirty="0"/>
              <a:t>A) Calcular el tiempo total de vuelo del misil desde el instante de su lanzamiento hasta el impacto con el objetivo</a:t>
            </a:r>
          </a:p>
          <a:p>
            <a:endParaRPr lang="es-MX" sz="2400" dirty="0"/>
          </a:p>
          <a:p>
            <a:pPr marL="0" indent="0">
              <a:buNone/>
            </a:pPr>
            <a:r>
              <a:rPr lang="es-MX" sz="2400" dirty="0"/>
              <a:t>B) Determinar la distancia horizontal recorrida por el misil desde que es liberado por el caza portador hasta la colisión</a:t>
            </a:r>
          </a:p>
          <a:p>
            <a:pPr marL="0" indent="0">
              <a:buNone/>
            </a:pPr>
            <a:endParaRPr lang="es-ES" dirty="0"/>
          </a:p>
        </p:txBody>
      </p:sp>
    </p:spTree>
    <p:extLst>
      <p:ext uri="{BB962C8B-B14F-4D97-AF65-F5344CB8AC3E}">
        <p14:creationId xmlns:p14="http://schemas.microsoft.com/office/powerpoint/2010/main" val="614801221"/>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2543023" y="2178528"/>
            <a:ext cx="7105954" cy="1250472"/>
          </a:xfrm>
        </p:spPr>
        <p:txBody>
          <a:bodyPr/>
          <a:lstStyle/>
          <a:p>
            <a:r>
              <a:rPr lang="es-ES" dirty="0"/>
              <a:t>Resolución del problema</a:t>
            </a:r>
          </a:p>
        </p:txBody>
      </p:sp>
    </p:spTree>
    <p:extLst>
      <p:ext uri="{BB962C8B-B14F-4D97-AF65-F5344CB8AC3E}">
        <p14:creationId xmlns:p14="http://schemas.microsoft.com/office/powerpoint/2010/main" val="1871209876"/>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0D2619-EF74-CE79-2A81-801B43CE4273}"/>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534180EA-C137-685E-46AF-FB1AC0659D9A}"/>
              </a:ext>
            </a:extLst>
          </p:cNvPr>
          <p:cNvSpPr>
            <a:spLocks noGrp="1"/>
          </p:cNvSpPr>
          <p:nvPr>
            <p:ph type="title"/>
          </p:nvPr>
        </p:nvSpPr>
        <p:spPr/>
        <p:txBody>
          <a:bodyPr>
            <a:normAutofit/>
          </a:bodyPr>
          <a:lstStyle/>
          <a:p>
            <a:r>
              <a:rPr lang="es-MX" dirty="0"/>
              <a:t>Normalización de Unidades (Velocidad)</a:t>
            </a:r>
            <a:endParaRPr lang="es-ES" dirty="0"/>
          </a:p>
        </p:txBody>
      </p:sp>
      <p:sp>
        <p:nvSpPr>
          <p:cNvPr id="4" name="Marcador de contenido 3">
            <a:extLst>
              <a:ext uri="{FF2B5EF4-FFF2-40B4-BE49-F238E27FC236}">
                <a16:creationId xmlns:a16="http://schemas.microsoft.com/office/drawing/2014/main" id="{62E7E822-8924-7FB2-75B4-90CFE7379EA6}"/>
              </a:ext>
            </a:extLst>
          </p:cNvPr>
          <p:cNvSpPr>
            <a:spLocks noGrp="1"/>
          </p:cNvSpPr>
          <p:nvPr>
            <p:ph sz="half" idx="2"/>
          </p:nvPr>
        </p:nvSpPr>
        <p:spPr>
          <a:xfrm>
            <a:off x="918339" y="2473020"/>
            <a:ext cx="4898375" cy="3749650"/>
          </a:xfrm>
        </p:spPr>
        <p:txBody>
          <a:bodyPr/>
          <a:lstStyle/>
          <a:p>
            <a:r>
              <a:rPr lang="es-ES" dirty="0"/>
              <a:t>Conversión para la rapidez</a:t>
            </a:r>
          </a:p>
          <a:p>
            <a:pPr marL="0" indent="0">
              <a:buNone/>
            </a:pPr>
            <a:endParaRPr lang="es-ES" dirty="0"/>
          </a:p>
          <a:p>
            <a:pPr marL="0" indent="0">
              <a:buNone/>
            </a:pPr>
            <a:endParaRPr lang="es-ES" dirty="0"/>
          </a:p>
          <a:p>
            <a:r>
              <a:rPr lang="es-ES" dirty="0"/>
              <a:t>Velocidades</a:t>
            </a:r>
          </a:p>
          <a:p>
            <a:endParaRPr lang="es-ES" dirty="0"/>
          </a:p>
        </p:txBody>
      </p:sp>
      <p:pic>
        <p:nvPicPr>
          <p:cNvPr id="9" name="Marcador de contenido 11">
            <a:extLst>
              <a:ext uri="{FF2B5EF4-FFF2-40B4-BE49-F238E27FC236}">
                <a16:creationId xmlns:a16="http://schemas.microsoft.com/office/drawing/2014/main" id="{26B81228-DC64-129D-090A-747B8A3114F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76486" y="2970580"/>
            <a:ext cx="2256127" cy="834018"/>
          </a:xfrm>
          <a:prstGeom prst="rect">
            <a:avLst/>
          </a:prstGeom>
        </p:spPr>
      </p:pic>
      <p:pic>
        <p:nvPicPr>
          <p:cNvPr id="10" name="Imagen 9">
            <a:extLst>
              <a:ext uri="{FF2B5EF4-FFF2-40B4-BE49-F238E27FC236}">
                <a16:creationId xmlns:a16="http://schemas.microsoft.com/office/drawing/2014/main" id="{0FA2A145-C7A1-25E0-CFFA-F787CF37D52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57618" y="4520955"/>
            <a:ext cx="3581400" cy="771525"/>
          </a:xfrm>
          <a:prstGeom prst="rect">
            <a:avLst/>
          </a:prstGeom>
        </p:spPr>
      </p:pic>
      <p:pic>
        <p:nvPicPr>
          <p:cNvPr id="11" name="Imagen 10">
            <a:extLst>
              <a:ext uri="{FF2B5EF4-FFF2-40B4-BE49-F238E27FC236}">
                <a16:creationId xmlns:a16="http://schemas.microsoft.com/office/drawing/2014/main" id="{FF579A56-249A-136E-81E5-78FD50FACB5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457618" y="5449482"/>
            <a:ext cx="3581400" cy="771525"/>
          </a:xfrm>
          <a:prstGeom prst="rect">
            <a:avLst/>
          </a:prstGeom>
        </p:spPr>
      </p:pic>
      <p:sp>
        <p:nvSpPr>
          <p:cNvPr id="14" name="Marcador de contenido 2">
            <a:extLst>
              <a:ext uri="{FF2B5EF4-FFF2-40B4-BE49-F238E27FC236}">
                <a16:creationId xmlns:a16="http://schemas.microsoft.com/office/drawing/2014/main" id="{A7713781-9EC9-EEAE-F713-58A64D841AE9}"/>
              </a:ext>
            </a:extLst>
          </p:cNvPr>
          <p:cNvSpPr>
            <a:spLocks noGrp="1"/>
          </p:cNvSpPr>
          <p:nvPr>
            <p:ph sz="half" idx="1"/>
          </p:nvPr>
        </p:nvSpPr>
        <p:spPr>
          <a:xfrm>
            <a:off x="6375287" y="2473020"/>
            <a:ext cx="4746092" cy="3310128"/>
          </a:xfrm>
        </p:spPr>
        <p:txBody>
          <a:bodyPr/>
          <a:lstStyle/>
          <a:p>
            <a:r>
              <a:rPr lang="es-ES" dirty="0"/>
              <a:t>Datos Iniciales</a:t>
            </a:r>
          </a:p>
          <a:p>
            <a:endParaRPr lang="es-ES" dirty="0"/>
          </a:p>
        </p:txBody>
      </p:sp>
      <p:pic>
        <p:nvPicPr>
          <p:cNvPr id="15" name="Imagen 14">
            <a:extLst>
              <a:ext uri="{FF2B5EF4-FFF2-40B4-BE49-F238E27FC236}">
                <a16:creationId xmlns:a16="http://schemas.microsoft.com/office/drawing/2014/main" id="{E8B9F9B9-1CDC-EA8D-0CD8-17D75091C44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589022" y="2944025"/>
            <a:ext cx="967691" cy="295275"/>
          </a:xfrm>
          <a:prstGeom prst="rect">
            <a:avLst/>
          </a:prstGeom>
        </p:spPr>
      </p:pic>
      <p:pic>
        <p:nvPicPr>
          <p:cNvPr id="16" name="Imagen 15">
            <a:extLst>
              <a:ext uri="{FF2B5EF4-FFF2-40B4-BE49-F238E27FC236}">
                <a16:creationId xmlns:a16="http://schemas.microsoft.com/office/drawing/2014/main" id="{627DFCA7-2DD9-8DD3-0B33-DDB68CD7799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589021" y="3426806"/>
            <a:ext cx="2318625" cy="400050"/>
          </a:xfrm>
          <a:prstGeom prst="rect">
            <a:avLst/>
          </a:prstGeom>
        </p:spPr>
      </p:pic>
      <p:pic>
        <p:nvPicPr>
          <p:cNvPr id="17" name="Imagen 16">
            <a:extLst>
              <a:ext uri="{FF2B5EF4-FFF2-40B4-BE49-F238E27FC236}">
                <a16:creationId xmlns:a16="http://schemas.microsoft.com/office/drawing/2014/main" id="{DA9B3263-82C3-D465-0055-73DC49DA6D6B}"/>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7589021" y="4014362"/>
            <a:ext cx="2855167" cy="400050"/>
          </a:xfrm>
          <a:prstGeom prst="rect">
            <a:avLst/>
          </a:prstGeom>
        </p:spPr>
      </p:pic>
      <p:pic>
        <p:nvPicPr>
          <p:cNvPr id="18" name="Imagen 17">
            <a:extLst>
              <a:ext uri="{FF2B5EF4-FFF2-40B4-BE49-F238E27FC236}">
                <a16:creationId xmlns:a16="http://schemas.microsoft.com/office/drawing/2014/main" id="{8EA4993D-BD6B-85C3-FD8A-297CD7859A46}"/>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7589022" y="4601918"/>
            <a:ext cx="2194071" cy="304800"/>
          </a:xfrm>
          <a:prstGeom prst="rect">
            <a:avLst/>
          </a:prstGeom>
        </p:spPr>
      </p:pic>
    </p:spTree>
    <p:extLst>
      <p:ext uri="{BB962C8B-B14F-4D97-AF65-F5344CB8AC3E}">
        <p14:creationId xmlns:p14="http://schemas.microsoft.com/office/powerpoint/2010/main" val="30410520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 calcmode="lin" valueType="num">
                                      <p:cBhvr additive="base">
                                        <p:cTn id="7"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53" presetClass="entr" presetSubtype="16" fill="hold" nodeType="clickEffect">
                                  <p:stCondLst>
                                    <p:cond delay="0"/>
                                  </p:stCondLst>
                                  <p:childTnLst>
                                    <p:set>
                                      <p:cBhvr>
                                        <p:cTn id="12" dur="1" fill="hold">
                                          <p:stCondLst>
                                            <p:cond delay="0"/>
                                          </p:stCondLst>
                                        </p:cTn>
                                        <p:tgtEl>
                                          <p:spTgt spid="9"/>
                                        </p:tgtEl>
                                        <p:attrNameLst>
                                          <p:attrName>style.visibility</p:attrName>
                                        </p:attrNameLst>
                                      </p:cBhvr>
                                      <p:to>
                                        <p:strVal val="visible"/>
                                      </p:to>
                                    </p:set>
                                    <p:anim calcmode="lin" valueType="num">
                                      <p:cBhvr>
                                        <p:cTn id="13" dur="500" fill="hold"/>
                                        <p:tgtEl>
                                          <p:spTgt spid="9"/>
                                        </p:tgtEl>
                                        <p:attrNameLst>
                                          <p:attrName>ppt_w</p:attrName>
                                        </p:attrNameLst>
                                      </p:cBhvr>
                                      <p:tavLst>
                                        <p:tav tm="0">
                                          <p:val>
                                            <p:fltVal val="0"/>
                                          </p:val>
                                        </p:tav>
                                        <p:tav tm="100000">
                                          <p:val>
                                            <p:strVal val="#ppt_w"/>
                                          </p:val>
                                        </p:tav>
                                      </p:tavLst>
                                    </p:anim>
                                    <p:anim calcmode="lin" valueType="num">
                                      <p:cBhvr>
                                        <p:cTn id="14" dur="500" fill="hold"/>
                                        <p:tgtEl>
                                          <p:spTgt spid="9"/>
                                        </p:tgtEl>
                                        <p:attrNameLst>
                                          <p:attrName>ppt_h</p:attrName>
                                        </p:attrNameLst>
                                      </p:cBhvr>
                                      <p:tavLst>
                                        <p:tav tm="0">
                                          <p:val>
                                            <p:fltVal val="0"/>
                                          </p:val>
                                        </p:tav>
                                        <p:tav tm="100000">
                                          <p:val>
                                            <p:strVal val="#ppt_h"/>
                                          </p:val>
                                        </p:tav>
                                      </p:tavLst>
                                    </p:anim>
                                    <p:animEffect transition="in" filter="fade">
                                      <p:cBhvr>
                                        <p:cTn id="15" dur="500"/>
                                        <p:tgtEl>
                                          <p:spTgt spid="9"/>
                                        </p:tgtEl>
                                      </p:cBhvr>
                                    </p:animEffec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53" presetClass="entr" presetSubtype="16" fill="hold" nodeType="clickEffect">
                                  <p:stCondLst>
                                    <p:cond delay="0"/>
                                  </p:stCondLst>
                                  <p:childTnLst>
                                    <p:set>
                                      <p:cBhvr>
                                        <p:cTn id="23" dur="1" fill="hold">
                                          <p:stCondLst>
                                            <p:cond delay="0"/>
                                          </p:stCondLst>
                                        </p:cTn>
                                        <p:tgtEl>
                                          <p:spTgt spid="10"/>
                                        </p:tgtEl>
                                        <p:attrNameLst>
                                          <p:attrName>style.visibility</p:attrName>
                                        </p:attrNameLst>
                                      </p:cBhvr>
                                      <p:to>
                                        <p:strVal val="visible"/>
                                      </p:to>
                                    </p:set>
                                    <p:anim calcmode="lin" valueType="num">
                                      <p:cBhvr>
                                        <p:cTn id="24" dur="500" fill="hold"/>
                                        <p:tgtEl>
                                          <p:spTgt spid="10"/>
                                        </p:tgtEl>
                                        <p:attrNameLst>
                                          <p:attrName>ppt_w</p:attrName>
                                        </p:attrNameLst>
                                      </p:cBhvr>
                                      <p:tavLst>
                                        <p:tav tm="0">
                                          <p:val>
                                            <p:fltVal val="0"/>
                                          </p:val>
                                        </p:tav>
                                        <p:tav tm="100000">
                                          <p:val>
                                            <p:strVal val="#ppt_w"/>
                                          </p:val>
                                        </p:tav>
                                      </p:tavLst>
                                    </p:anim>
                                    <p:anim calcmode="lin" valueType="num">
                                      <p:cBhvr>
                                        <p:cTn id="25" dur="500" fill="hold"/>
                                        <p:tgtEl>
                                          <p:spTgt spid="10"/>
                                        </p:tgtEl>
                                        <p:attrNameLst>
                                          <p:attrName>ppt_h</p:attrName>
                                        </p:attrNameLst>
                                      </p:cBhvr>
                                      <p:tavLst>
                                        <p:tav tm="0">
                                          <p:val>
                                            <p:fltVal val="0"/>
                                          </p:val>
                                        </p:tav>
                                        <p:tav tm="100000">
                                          <p:val>
                                            <p:strVal val="#ppt_h"/>
                                          </p:val>
                                        </p:tav>
                                      </p:tavLst>
                                    </p:anim>
                                    <p:animEffect transition="in" filter="fade">
                                      <p:cBhvr>
                                        <p:cTn id="26" dur="500"/>
                                        <p:tgtEl>
                                          <p:spTgt spid="10"/>
                                        </p:tgtEl>
                                      </p:cBhvr>
                                    </p:animEffect>
                                  </p:childTnLst>
                                </p:cTn>
                              </p:par>
                            </p:childTnLst>
                          </p:cTn>
                        </p:par>
                      </p:childTnLst>
                    </p:cTn>
                  </p:par>
                  <p:par>
                    <p:cTn id="27" fill="hold">
                      <p:stCondLst>
                        <p:cond delay="indefinite"/>
                      </p:stCondLst>
                      <p:childTnLst>
                        <p:par>
                          <p:cTn id="28" fill="hold">
                            <p:stCondLst>
                              <p:cond delay="0"/>
                            </p:stCondLst>
                            <p:childTnLst>
                              <p:par>
                                <p:cTn id="29" presetID="53" presetClass="entr" presetSubtype="16" fill="hold" nodeType="clickEffect">
                                  <p:stCondLst>
                                    <p:cond delay="0"/>
                                  </p:stCondLst>
                                  <p:childTnLst>
                                    <p:set>
                                      <p:cBhvr>
                                        <p:cTn id="30" dur="1" fill="hold">
                                          <p:stCondLst>
                                            <p:cond delay="0"/>
                                          </p:stCondLst>
                                        </p:cTn>
                                        <p:tgtEl>
                                          <p:spTgt spid="11"/>
                                        </p:tgtEl>
                                        <p:attrNameLst>
                                          <p:attrName>style.visibility</p:attrName>
                                        </p:attrNameLst>
                                      </p:cBhvr>
                                      <p:to>
                                        <p:strVal val="visible"/>
                                      </p:to>
                                    </p:set>
                                    <p:anim calcmode="lin" valueType="num">
                                      <p:cBhvr>
                                        <p:cTn id="31" dur="500" fill="hold"/>
                                        <p:tgtEl>
                                          <p:spTgt spid="11"/>
                                        </p:tgtEl>
                                        <p:attrNameLst>
                                          <p:attrName>ppt_w</p:attrName>
                                        </p:attrNameLst>
                                      </p:cBhvr>
                                      <p:tavLst>
                                        <p:tav tm="0">
                                          <p:val>
                                            <p:fltVal val="0"/>
                                          </p:val>
                                        </p:tav>
                                        <p:tav tm="100000">
                                          <p:val>
                                            <p:strVal val="#ppt_w"/>
                                          </p:val>
                                        </p:tav>
                                      </p:tavLst>
                                    </p:anim>
                                    <p:anim calcmode="lin" valueType="num">
                                      <p:cBhvr>
                                        <p:cTn id="32" dur="500" fill="hold"/>
                                        <p:tgtEl>
                                          <p:spTgt spid="11"/>
                                        </p:tgtEl>
                                        <p:attrNameLst>
                                          <p:attrName>ppt_h</p:attrName>
                                        </p:attrNameLst>
                                      </p:cBhvr>
                                      <p:tavLst>
                                        <p:tav tm="0">
                                          <p:val>
                                            <p:fltVal val="0"/>
                                          </p:val>
                                        </p:tav>
                                        <p:tav tm="100000">
                                          <p:val>
                                            <p:strVal val="#ppt_h"/>
                                          </p:val>
                                        </p:tav>
                                      </p:tavLst>
                                    </p:anim>
                                    <p:animEffect transition="in" filter="fade">
                                      <p:cBhvr>
                                        <p:cTn id="33" dur="500"/>
                                        <p:tgtEl>
                                          <p:spTgt spid="11"/>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14">
                                            <p:txEl>
                                              <p:pRg st="0" end="0"/>
                                            </p:txEl>
                                          </p:spTgt>
                                        </p:tgtEl>
                                        <p:attrNameLst>
                                          <p:attrName>style.visibility</p:attrName>
                                        </p:attrNameLst>
                                      </p:cBhvr>
                                      <p:to>
                                        <p:strVal val="visible"/>
                                      </p:to>
                                    </p:set>
                                    <p:animEffect transition="in" filter="fade">
                                      <p:cBhvr>
                                        <p:cTn id="38" dur="500"/>
                                        <p:tgtEl>
                                          <p:spTgt spid="14">
                                            <p:txEl>
                                              <p:pRg st="0" end="0"/>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53" presetClass="entr" presetSubtype="16" fill="hold" nodeType="clickEffect">
                                  <p:stCondLst>
                                    <p:cond delay="0"/>
                                  </p:stCondLst>
                                  <p:childTnLst>
                                    <p:set>
                                      <p:cBhvr>
                                        <p:cTn id="42" dur="1" fill="hold">
                                          <p:stCondLst>
                                            <p:cond delay="0"/>
                                          </p:stCondLst>
                                        </p:cTn>
                                        <p:tgtEl>
                                          <p:spTgt spid="15"/>
                                        </p:tgtEl>
                                        <p:attrNameLst>
                                          <p:attrName>style.visibility</p:attrName>
                                        </p:attrNameLst>
                                      </p:cBhvr>
                                      <p:to>
                                        <p:strVal val="visible"/>
                                      </p:to>
                                    </p:set>
                                    <p:anim calcmode="lin" valueType="num">
                                      <p:cBhvr>
                                        <p:cTn id="43" dur="500" fill="hold"/>
                                        <p:tgtEl>
                                          <p:spTgt spid="15"/>
                                        </p:tgtEl>
                                        <p:attrNameLst>
                                          <p:attrName>ppt_w</p:attrName>
                                        </p:attrNameLst>
                                      </p:cBhvr>
                                      <p:tavLst>
                                        <p:tav tm="0">
                                          <p:val>
                                            <p:fltVal val="0"/>
                                          </p:val>
                                        </p:tav>
                                        <p:tav tm="100000">
                                          <p:val>
                                            <p:strVal val="#ppt_w"/>
                                          </p:val>
                                        </p:tav>
                                      </p:tavLst>
                                    </p:anim>
                                    <p:anim calcmode="lin" valueType="num">
                                      <p:cBhvr>
                                        <p:cTn id="44" dur="500" fill="hold"/>
                                        <p:tgtEl>
                                          <p:spTgt spid="15"/>
                                        </p:tgtEl>
                                        <p:attrNameLst>
                                          <p:attrName>ppt_h</p:attrName>
                                        </p:attrNameLst>
                                      </p:cBhvr>
                                      <p:tavLst>
                                        <p:tav tm="0">
                                          <p:val>
                                            <p:fltVal val="0"/>
                                          </p:val>
                                        </p:tav>
                                        <p:tav tm="100000">
                                          <p:val>
                                            <p:strVal val="#ppt_h"/>
                                          </p:val>
                                        </p:tav>
                                      </p:tavLst>
                                    </p:anim>
                                    <p:animEffect transition="in" filter="fade">
                                      <p:cBhvr>
                                        <p:cTn id="45" dur="500"/>
                                        <p:tgtEl>
                                          <p:spTgt spid="15"/>
                                        </p:tgtEl>
                                      </p:cBhvr>
                                    </p:animEffect>
                                  </p:childTnLst>
                                </p:cTn>
                              </p:par>
                            </p:childTnLst>
                          </p:cTn>
                        </p:par>
                      </p:childTnLst>
                    </p:cTn>
                  </p:par>
                  <p:par>
                    <p:cTn id="46" fill="hold">
                      <p:stCondLst>
                        <p:cond delay="indefinite"/>
                      </p:stCondLst>
                      <p:childTnLst>
                        <p:par>
                          <p:cTn id="47" fill="hold">
                            <p:stCondLst>
                              <p:cond delay="0"/>
                            </p:stCondLst>
                            <p:childTnLst>
                              <p:par>
                                <p:cTn id="48" presetID="53" presetClass="entr" presetSubtype="16" fill="hold" nodeType="clickEffect">
                                  <p:stCondLst>
                                    <p:cond delay="0"/>
                                  </p:stCondLst>
                                  <p:childTnLst>
                                    <p:set>
                                      <p:cBhvr>
                                        <p:cTn id="49" dur="1" fill="hold">
                                          <p:stCondLst>
                                            <p:cond delay="0"/>
                                          </p:stCondLst>
                                        </p:cTn>
                                        <p:tgtEl>
                                          <p:spTgt spid="16"/>
                                        </p:tgtEl>
                                        <p:attrNameLst>
                                          <p:attrName>style.visibility</p:attrName>
                                        </p:attrNameLst>
                                      </p:cBhvr>
                                      <p:to>
                                        <p:strVal val="visible"/>
                                      </p:to>
                                    </p:set>
                                    <p:anim calcmode="lin" valueType="num">
                                      <p:cBhvr>
                                        <p:cTn id="50" dur="500" fill="hold"/>
                                        <p:tgtEl>
                                          <p:spTgt spid="16"/>
                                        </p:tgtEl>
                                        <p:attrNameLst>
                                          <p:attrName>ppt_w</p:attrName>
                                        </p:attrNameLst>
                                      </p:cBhvr>
                                      <p:tavLst>
                                        <p:tav tm="0">
                                          <p:val>
                                            <p:fltVal val="0"/>
                                          </p:val>
                                        </p:tav>
                                        <p:tav tm="100000">
                                          <p:val>
                                            <p:strVal val="#ppt_w"/>
                                          </p:val>
                                        </p:tav>
                                      </p:tavLst>
                                    </p:anim>
                                    <p:anim calcmode="lin" valueType="num">
                                      <p:cBhvr>
                                        <p:cTn id="51" dur="500" fill="hold"/>
                                        <p:tgtEl>
                                          <p:spTgt spid="16"/>
                                        </p:tgtEl>
                                        <p:attrNameLst>
                                          <p:attrName>ppt_h</p:attrName>
                                        </p:attrNameLst>
                                      </p:cBhvr>
                                      <p:tavLst>
                                        <p:tav tm="0">
                                          <p:val>
                                            <p:fltVal val="0"/>
                                          </p:val>
                                        </p:tav>
                                        <p:tav tm="100000">
                                          <p:val>
                                            <p:strVal val="#ppt_h"/>
                                          </p:val>
                                        </p:tav>
                                      </p:tavLst>
                                    </p:anim>
                                    <p:animEffect transition="in" filter="fade">
                                      <p:cBhvr>
                                        <p:cTn id="52" dur="500"/>
                                        <p:tgtEl>
                                          <p:spTgt spid="16"/>
                                        </p:tgtEl>
                                      </p:cBhvr>
                                    </p:animEffect>
                                  </p:childTnLst>
                                </p:cTn>
                              </p:par>
                            </p:childTnLst>
                          </p:cTn>
                        </p:par>
                      </p:childTnLst>
                    </p:cTn>
                  </p:par>
                  <p:par>
                    <p:cTn id="53" fill="hold">
                      <p:stCondLst>
                        <p:cond delay="indefinite"/>
                      </p:stCondLst>
                      <p:childTnLst>
                        <p:par>
                          <p:cTn id="54" fill="hold">
                            <p:stCondLst>
                              <p:cond delay="0"/>
                            </p:stCondLst>
                            <p:childTnLst>
                              <p:par>
                                <p:cTn id="55" presetID="53" presetClass="entr" presetSubtype="16" fill="hold" nodeType="clickEffect">
                                  <p:stCondLst>
                                    <p:cond delay="0"/>
                                  </p:stCondLst>
                                  <p:childTnLst>
                                    <p:set>
                                      <p:cBhvr>
                                        <p:cTn id="56" dur="1" fill="hold">
                                          <p:stCondLst>
                                            <p:cond delay="0"/>
                                          </p:stCondLst>
                                        </p:cTn>
                                        <p:tgtEl>
                                          <p:spTgt spid="17"/>
                                        </p:tgtEl>
                                        <p:attrNameLst>
                                          <p:attrName>style.visibility</p:attrName>
                                        </p:attrNameLst>
                                      </p:cBhvr>
                                      <p:to>
                                        <p:strVal val="visible"/>
                                      </p:to>
                                    </p:set>
                                    <p:anim calcmode="lin" valueType="num">
                                      <p:cBhvr>
                                        <p:cTn id="57" dur="500" fill="hold"/>
                                        <p:tgtEl>
                                          <p:spTgt spid="17"/>
                                        </p:tgtEl>
                                        <p:attrNameLst>
                                          <p:attrName>ppt_w</p:attrName>
                                        </p:attrNameLst>
                                      </p:cBhvr>
                                      <p:tavLst>
                                        <p:tav tm="0">
                                          <p:val>
                                            <p:fltVal val="0"/>
                                          </p:val>
                                        </p:tav>
                                        <p:tav tm="100000">
                                          <p:val>
                                            <p:strVal val="#ppt_w"/>
                                          </p:val>
                                        </p:tav>
                                      </p:tavLst>
                                    </p:anim>
                                    <p:anim calcmode="lin" valueType="num">
                                      <p:cBhvr>
                                        <p:cTn id="58" dur="500" fill="hold"/>
                                        <p:tgtEl>
                                          <p:spTgt spid="17"/>
                                        </p:tgtEl>
                                        <p:attrNameLst>
                                          <p:attrName>ppt_h</p:attrName>
                                        </p:attrNameLst>
                                      </p:cBhvr>
                                      <p:tavLst>
                                        <p:tav tm="0">
                                          <p:val>
                                            <p:fltVal val="0"/>
                                          </p:val>
                                        </p:tav>
                                        <p:tav tm="100000">
                                          <p:val>
                                            <p:strVal val="#ppt_h"/>
                                          </p:val>
                                        </p:tav>
                                      </p:tavLst>
                                    </p:anim>
                                    <p:animEffect transition="in" filter="fade">
                                      <p:cBhvr>
                                        <p:cTn id="59" dur="500"/>
                                        <p:tgtEl>
                                          <p:spTgt spid="17"/>
                                        </p:tgtEl>
                                      </p:cBhvr>
                                    </p:animEffect>
                                  </p:childTnLst>
                                </p:cTn>
                              </p:par>
                            </p:childTnLst>
                          </p:cTn>
                        </p:par>
                      </p:childTnLst>
                    </p:cTn>
                  </p:par>
                  <p:par>
                    <p:cTn id="60" fill="hold">
                      <p:stCondLst>
                        <p:cond delay="indefinite"/>
                      </p:stCondLst>
                      <p:childTnLst>
                        <p:par>
                          <p:cTn id="61" fill="hold">
                            <p:stCondLst>
                              <p:cond delay="0"/>
                            </p:stCondLst>
                            <p:childTnLst>
                              <p:par>
                                <p:cTn id="62" presetID="53" presetClass="entr" presetSubtype="16" fill="hold" nodeType="clickEffect">
                                  <p:stCondLst>
                                    <p:cond delay="0"/>
                                  </p:stCondLst>
                                  <p:childTnLst>
                                    <p:set>
                                      <p:cBhvr>
                                        <p:cTn id="63" dur="1" fill="hold">
                                          <p:stCondLst>
                                            <p:cond delay="0"/>
                                          </p:stCondLst>
                                        </p:cTn>
                                        <p:tgtEl>
                                          <p:spTgt spid="18"/>
                                        </p:tgtEl>
                                        <p:attrNameLst>
                                          <p:attrName>style.visibility</p:attrName>
                                        </p:attrNameLst>
                                      </p:cBhvr>
                                      <p:to>
                                        <p:strVal val="visible"/>
                                      </p:to>
                                    </p:set>
                                    <p:anim calcmode="lin" valueType="num">
                                      <p:cBhvr>
                                        <p:cTn id="64" dur="500" fill="hold"/>
                                        <p:tgtEl>
                                          <p:spTgt spid="18"/>
                                        </p:tgtEl>
                                        <p:attrNameLst>
                                          <p:attrName>ppt_w</p:attrName>
                                        </p:attrNameLst>
                                      </p:cBhvr>
                                      <p:tavLst>
                                        <p:tav tm="0">
                                          <p:val>
                                            <p:fltVal val="0"/>
                                          </p:val>
                                        </p:tav>
                                        <p:tav tm="100000">
                                          <p:val>
                                            <p:strVal val="#ppt_w"/>
                                          </p:val>
                                        </p:tav>
                                      </p:tavLst>
                                    </p:anim>
                                    <p:anim calcmode="lin" valueType="num">
                                      <p:cBhvr>
                                        <p:cTn id="65" dur="500" fill="hold"/>
                                        <p:tgtEl>
                                          <p:spTgt spid="18"/>
                                        </p:tgtEl>
                                        <p:attrNameLst>
                                          <p:attrName>ppt_h</p:attrName>
                                        </p:attrNameLst>
                                      </p:cBhvr>
                                      <p:tavLst>
                                        <p:tav tm="0">
                                          <p:val>
                                            <p:fltVal val="0"/>
                                          </p:val>
                                        </p:tav>
                                        <p:tav tm="100000">
                                          <p:val>
                                            <p:strVal val="#ppt_h"/>
                                          </p:val>
                                        </p:tav>
                                      </p:tavLst>
                                    </p:anim>
                                    <p:animEffect transition="in" filter="fade">
                                      <p:cBhvr>
                                        <p:cTn id="66"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fontScale="90000"/>
          </a:bodyPr>
          <a:lstStyle/>
          <a:p>
            <a:r>
              <a:rPr lang="es-MX" dirty="0"/>
              <a:t>Fase 1 – Retardo Radar (t = 5.0 s) y Separación al momento del Disparo</a:t>
            </a:r>
            <a:endParaRPr lang="es-ES" dirty="0"/>
          </a:p>
        </p:txBody>
      </p:sp>
      <p:pic>
        <p:nvPicPr>
          <p:cNvPr id="4" name="Marcador de contenido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462337" y="2990709"/>
            <a:ext cx="5267325" cy="1066800"/>
          </a:xfrm>
        </p:spPr>
      </p:pic>
      <p:sp>
        <p:nvSpPr>
          <p:cNvPr id="5" name="CuadroTexto 4"/>
          <p:cNvSpPr txBox="1"/>
          <p:nvPr/>
        </p:nvSpPr>
        <p:spPr>
          <a:xfrm>
            <a:off x="1295402" y="2529044"/>
            <a:ext cx="5494922" cy="461665"/>
          </a:xfrm>
          <a:prstGeom prst="rect">
            <a:avLst/>
          </a:prstGeom>
          <a:noFill/>
        </p:spPr>
        <p:txBody>
          <a:bodyPr wrap="square" rtlCol="0">
            <a:spAutoFit/>
          </a:bodyPr>
          <a:lstStyle/>
          <a:p>
            <a:r>
              <a:rPr lang="es-ES" dirty="0"/>
              <a:t>Deducción </a:t>
            </a:r>
            <a:r>
              <a:rPr lang="es-ES" sz="2400" dirty="0"/>
              <a:t>analítica</a:t>
            </a:r>
            <a:r>
              <a:rPr lang="es-ES" dirty="0"/>
              <a:t> del MRU</a:t>
            </a:r>
          </a:p>
        </p:txBody>
      </p:sp>
      <p:sp>
        <p:nvSpPr>
          <p:cNvPr id="6" name="CuadroTexto 5"/>
          <p:cNvSpPr txBox="1"/>
          <p:nvPr/>
        </p:nvSpPr>
        <p:spPr>
          <a:xfrm>
            <a:off x="1295402" y="4309851"/>
            <a:ext cx="5494922" cy="461665"/>
          </a:xfrm>
          <a:prstGeom prst="rect">
            <a:avLst/>
          </a:prstGeom>
          <a:noFill/>
        </p:spPr>
        <p:txBody>
          <a:bodyPr wrap="square" rtlCol="0">
            <a:spAutoFit/>
          </a:bodyPr>
          <a:lstStyle/>
          <a:p>
            <a:r>
              <a:rPr lang="es-ES" dirty="0"/>
              <a:t>Formula </a:t>
            </a:r>
            <a:r>
              <a:rPr lang="es-ES" sz="2400" dirty="0"/>
              <a:t>resultante</a:t>
            </a:r>
            <a:endParaRPr lang="es-ES" dirty="0"/>
          </a:p>
        </p:txBody>
      </p:sp>
      <p:pic>
        <p:nvPicPr>
          <p:cNvPr id="7" name="Imagen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33911" y="4823833"/>
            <a:ext cx="2924175" cy="400050"/>
          </a:xfrm>
          <a:prstGeom prst="rect">
            <a:avLst/>
          </a:prstGeom>
        </p:spPr>
      </p:pic>
    </p:spTree>
    <p:extLst>
      <p:ext uri="{BB962C8B-B14F-4D97-AF65-F5344CB8AC3E}">
        <p14:creationId xmlns:p14="http://schemas.microsoft.com/office/powerpoint/2010/main" val="28686916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53" presetClass="entr" presetSubtype="16"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p:cTn id="11" dur="500" fill="hold"/>
                                        <p:tgtEl>
                                          <p:spTgt spid="4"/>
                                        </p:tgtEl>
                                        <p:attrNameLst>
                                          <p:attrName>ppt_w</p:attrName>
                                        </p:attrNameLst>
                                      </p:cBhvr>
                                      <p:tavLst>
                                        <p:tav tm="0">
                                          <p:val>
                                            <p:fltVal val="0"/>
                                          </p:val>
                                        </p:tav>
                                        <p:tav tm="100000">
                                          <p:val>
                                            <p:strVal val="#ppt_w"/>
                                          </p:val>
                                        </p:tav>
                                      </p:tavLst>
                                    </p:anim>
                                    <p:anim calcmode="lin" valueType="num">
                                      <p:cBhvr>
                                        <p:cTn id="12" dur="500" fill="hold"/>
                                        <p:tgtEl>
                                          <p:spTgt spid="4"/>
                                        </p:tgtEl>
                                        <p:attrNameLst>
                                          <p:attrName>ppt_h</p:attrName>
                                        </p:attrNameLst>
                                      </p:cBhvr>
                                      <p:tavLst>
                                        <p:tav tm="0">
                                          <p:val>
                                            <p:fltVal val="0"/>
                                          </p:val>
                                        </p:tav>
                                        <p:tav tm="100000">
                                          <p:val>
                                            <p:strVal val="#ppt_h"/>
                                          </p:val>
                                        </p:tav>
                                      </p:tavLst>
                                    </p:anim>
                                    <p:animEffect transition="in" filter="fade">
                                      <p:cBhvr>
                                        <p:cTn id="13" dur="500"/>
                                        <p:tgtEl>
                                          <p:spTgt spid="4"/>
                                        </p:tgtEl>
                                      </p:cBhvr>
                                    </p:animEffec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6"/>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53" presetClass="entr" presetSubtype="16" fill="hold" nodeType="clickEffect">
                                  <p:stCondLst>
                                    <p:cond delay="0"/>
                                  </p:stCondLst>
                                  <p:childTnLst>
                                    <p:set>
                                      <p:cBhvr>
                                        <p:cTn id="21" dur="1" fill="hold">
                                          <p:stCondLst>
                                            <p:cond delay="0"/>
                                          </p:stCondLst>
                                        </p:cTn>
                                        <p:tgtEl>
                                          <p:spTgt spid="7"/>
                                        </p:tgtEl>
                                        <p:attrNameLst>
                                          <p:attrName>style.visibility</p:attrName>
                                        </p:attrNameLst>
                                      </p:cBhvr>
                                      <p:to>
                                        <p:strVal val="visible"/>
                                      </p:to>
                                    </p:set>
                                    <p:anim calcmode="lin" valueType="num">
                                      <p:cBhvr>
                                        <p:cTn id="22" dur="500" fill="hold"/>
                                        <p:tgtEl>
                                          <p:spTgt spid="7"/>
                                        </p:tgtEl>
                                        <p:attrNameLst>
                                          <p:attrName>ppt_w</p:attrName>
                                        </p:attrNameLst>
                                      </p:cBhvr>
                                      <p:tavLst>
                                        <p:tav tm="0">
                                          <p:val>
                                            <p:fltVal val="0"/>
                                          </p:val>
                                        </p:tav>
                                        <p:tav tm="100000">
                                          <p:val>
                                            <p:strVal val="#ppt_w"/>
                                          </p:val>
                                        </p:tav>
                                      </p:tavLst>
                                    </p:anim>
                                    <p:anim calcmode="lin" valueType="num">
                                      <p:cBhvr>
                                        <p:cTn id="23" dur="500" fill="hold"/>
                                        <p:tgtEl>
                                          <p:spTgt spid="7"/>
                                        </p:tgtEl>
                                        <p:attrNameLst>
                                          <p:attrName>ppt_h</p:attrName>
                                        </p:attrNameLst>
                                      </p:cBhvr>
                                      <p:tavLst>
                                        <p:tav tm="0">
                                          <p:val>
                                            <p:fltVal val="0"/>
                                          </p:val>
                                        </p:tav>
                                        <p:tav tm="100000">
                                          <p:val>
                                            <p:strVal val="#ppt_h"/>
                                          </p:val>
                                        </p:tav>
                                      </p:tavLst>
                                    </p:anim>
                                    <p:animEffect transition="in" filter="fade">
                                      <p:cBhvr>
                                        <p:cTn id="24"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65797" y="1455555"/>
            <a:ext cx="6893543" cy="318864"/>
          </a:xfrm>
          <a:prstGeom prst="rect">
            <a:avLst/>
          </a:prstGeom>
        </p:spPr>
      </p:pic>
      <p:sp>
        <p:nvSpPr>
          <p:cNvPr id="3" name="CuadroTexto 2"/>
          <p:cNvSpPr txBox="1"/>
          <p:nvPr/>
        </p:nvSpPr>
        <p:spPr>
          <a:xfrm>
            <a:off x="1018674" y="2221315"/>
            <a:ext cx="5582652" cy="369332"/>
          </a:xfrm>
          <a:prstGeom prst="rect">
            <a:avLst/>
          </a:prstGeom>
          <a:noFill/>
        </p:spPr>
        <p:txBody>
          <a:bodyPr wrap="square" rtlCol="0">
            <a:spAutoFit/>
          </a:bodyPr>
          <a:lstStyle/>
          <a:p>
            <a:r>
              <a:rPr lang="es-ES" dirty="0"/>
              <a:t>Posición del objetivo (Avión B)</a:t>
            </a:r>
          </a:p>
        </p:txBody>
      </p:sp>
      <p:pic>
        <p:nvPicPr>
          <p:cNvPr id="4" name="Imagen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5797" y="2769845"/>
            <a:ext cx="7138636" cy="296561"/>
          </a:xfrm>
          <a:prstGeom prst="rect">
            <a:avLst/>
          </a:prstGeom>
        </p:spPr>
      </p:pic>
      <p:sp>
        <p:nvSpPr>
          <p:cNvPr id="5" name="CuadroTexto 4"/>
          <p:cNvSpPr txBox="1"/>
          <p:nvPr/>
        </p:nvSpPr>
        <p:spPr>
          <a:xfrm>
            <a:off x="1018674" y="890337"/>
            <a:ext cx="5582652" cy="461665"/>
          </a:xfrm>
          <a:prstGeom prst="rect">
            <a:avLst/>
          </a:prstGeom>
          <a:noFill/>
        </p:spPr>
        <p:txBody>
          <a:bodyPr wrap="square" rtlCol="0">
            <a:spAutoFit/>
          </a:bodyPr>
          <a:lstStyle/>
          <a:p>
            <a:r>
              <a:rPr lang="es-ES" sz="2400" dirty="0"/>
              <a:t>Posición del interceptor (Avión A)</a:t>
            </a:r>
          </a:p>
        </p:txBody>
      </p:sp>
      <p:pic>
        <p:nvPicPr>
          <p:cNvPr id="6" name="Imagen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65797" y="4251187"/>
            <a:ext cx="7373528" cy="359073"/>
          </a:xfrm>
          <a:prstGeom prst="rect">
            <a:avLst/>
          </a:prstGeom>
        </p:spPr>
      </p:pic>
      <p:sp>
        <p:nvSpPr>
          <p:cNvPr id="7" name="CuadroTexto 6"/>
          <p:cNvSpPr txBox="1"/>
          <p:nvPr/>
        </p:nvSpPr>
        <p:spPr>
          <a:xfrm>
            <a:off x="1065797" y="3427964"/>
            <a:ext cx="5582652" cy="461665"/>
          </a:xfrm>
          <a:prstGeom prst="rect">
            <a:avLst/>
          </a:prstGeom>
          <a:noFill/>
        </p:spPr>
        <p:txBody>
          <a:bodyPr wrap="square" rtlCol="0">
            <a:spAutoFit/>
          </a:bodyPr>
          <a:lstStyle/>
          <a:p>
            <a:r>
              <a:rPr lang="es-ES" dirty="0"/>
              <a:t>Separación horizontal al </a:t>
            </a:r>
            <a:r>
              <a:rPr lang="es-ES" sz="2400" dirty="0"/>
              <a:t>disparo</a:t>
            </a:r>
            <a:endParaRPr lang="es-ES" dirty="0"/>
          </a:p>
        </p:txBody>
      </p:sp>
    </p:spTree>
    <p:extLst>
      <p:ext uri="{BB962C8B-B14F-4D97-AF65-F5344CB8AC3E}">
        <p14:creationId xmlns:p14="http://schemas.microsoft.com/office/powerpoint/2010/main" val="42635740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8"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anim calcmode="lin" valueType="num">
                                      <p:cBhvr additive="base">
                                        <p:cTn id="11" dur="500" fill="hold"/>
                                        <p:tgtEl>
                                          <p:spTgt spid="2"/>
                                        </p:tgtEl>
                                        <p:attrNameLst>
                                          <p:attrName>ppt_x</p:attrName>
                                        </p:attrNameLst>
                                      </p:cBhvr>
                                      <p:tavLst>
                                        <p:tav tm="0">
                                          <p:val>
                                            <p:strVal val="0-#ppt_w/2"/>
                                          </p:val>
                                        </p:tav>
                                        <p:tav tm="100000">
                                          <p:val>
                                            <p:strVal val="#ppt_x"/>
                                          </p:val>
                                        </p:tav>
                                      </p:tavLst>
                                    </p:anim>
                                    <p:anim calcmode="lin" valueType="num">
                                      <p:cBhvr additive="base">
                                        <p:cTn id="12"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2" presetClass="entr" presetSubtype="8" fill="hold" nodeType="clickEffect">
                                  <p:stCondLst>
                                    <p:cond delay="0"/>
                                  </p:stCondLst>
                                  <p:childTnLst>
                                    <p:set>
                                      <p:cBhvr>
                                        <p:cTn id="20" dur="1" fill="hold">
                                          <p:stCondLst>
                                            <p:cond delay="0"/>
                                          </p:stCondLst>
                                        </p:cTn>
                                        <p:tgtEl>
                                          <p:spTgt spid="4"/>
                                        </p:tgtEl>
                                        <p:attrNameLst>
                                          <p:attrName>style.visibility</p:attrName>
                                        </p:attrNameLst>
                                      </p:cBhvr>
                                      <p:to>
                                        <p:strVal val="visible"/>
                                      </p:to>
                                    </p:set>
                                    <p:anim calcmode="lin" valueType="num">
                                      <p:cBhvr additive="base">
                                        <p:cTn id="21" dur="500" fill="hold"/>
                                        <p:tgtEl>
                                          <p:spTgt spid="4"/>
                                        </p:tgtEl>
                                        <p:attrNameLst>
                                          <p:attrName>ppt_x</p:attrName>
                                        </p:attrNameLst>
                                      </p:cBhvr>
                                      <p:tavLst>
                                        <p:tav tm="0">
                                          <p:val>
                                            <p:strVal val="0-#ppt_w/2"/>
                                          </p:val>
                                        </p:tav>
                                        <p:tav tm="100000">
                                          <p:val>
                                            <p:strVal val="#ppt_x"/>
                                          </p:val>
                                        </p:tav>
                                      </p:tavLst>
                                    </p:anim>
                                    <p:anim calcmode="lin" valueType="num">
                                      <p:cBhvr additive="base">
                                        <p:cTn id="22"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nodeType="clickEffect">
                                  <p:stCondLst>
                                    <p:cond delay="0"/>
                                  </p:stCondLst>
                                  <p:childTnLst>
                                    <p:set>
                                      <p:cBhvr>
                                        <p:cTn id="30" dur="1" fill="hold">
                                          <p:stCondLst>
                                            <p:cond delay="0"/>
                                          </p:stCondLst>
                                        </p:cTn>
                                        <p:tgtEl>
                                          <p:spTgt spid="6"/>
                                        </p:tgtEl>
                                        <p:attrNameLst>
                                          <p:attrName>style.visibility</p:attrName>
                                        </p:attrNameLst>
                                      </p:cBhvr>
                                      <p:to>
                                        <p:strVal val="visible"/>
                                      </p:to>
                                    </p:set>
                                    <p:anim calcmode="lin" valueType="num">
                                      <p:cBhvr additive="base">
                                        <p:cTn id="31" dur="500" fill="hold"/>
                                        <p:tgtEl>
                                          <p:spTgt spid="6"/>
                                        </p:tgtEl>
                                        <p:attrNameLst>
                                          <p:attrName>ppt_x</p:attrName>
                                        </p:attrNameLst>
                                      </p:cBhvr>
                                      <p:tavLst>
                                        <p:tav tm="0">
                                          <p:val>
                                            <p:strVal val="0-#ppt_w/2"/>
                                          </p:val>
                                        </p:tav>
                                        <p:tav tm="100000">
                                          <p:val>
                                            <p:strVal val="#ppt_x"/>
                                          </p:val>
                                        </p:tav>
                                      </p:tavLst>
                                    </p:anim>
                                    <p:anim calcmode="lin" valueType="num">
                                      <p:cBhvr additive="base">
                                        <p:cTn id="32" dur="5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P spid="7"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fontScale="90000"/>
          </a:bodyPr>
          <a:lstStyle/>
          <a:p>
            <a:r>
              <a:rPr lang="es-ES" dirty="0"/>
              <a:t>FASE 2: </a:t>
            </a:r>
            <a:r>
              <a:rPr lang="es-MX" dirty="0"/>
              <a:t>Velocidad Máxima del Misil (MRUA)</a:t>
            </a:r>
            <a:endParaRPr lang="es-ES" dirty="0"/>
          </a:p>
        </p:txBody>
      </p:sp>
      <p:sp>
        <p:nvSpPr>
          <p:cNvPr id="3" name="Marcador de contenido 2"/>
          <p:cNvSpPr>
            <a:spLocks noGrp="1"/>
          </p:cNvSpPr>
          <p:nvPr>
            <p:ph idx="1"/>
          </p:nvPr>
        </p:nvSpPr>
        <p:spPr>
          <a:xfrm>
            <a:off x="1295402" y="2457309"/>
            <a:ext cx="9601196" cy="3789111"/>
          </a:xfrm>
        </p:spPr>
        <p:txBody>
          <a:bodyPr/>
          <a:lstStyle/>
          <a:p>
            <a:pPr marL="0" indent="0">
              <a:buNone/>
            </a:pPr>
            <a:r>
              <a:rPr lang="es-ES" dirty="0"/>
              <a:t>Deducción analítica de la velocidad</a:t>
            </a:r>
          </a:p>
          <a:p>
            <a:endParaRPr lang="es-ES" dirty="0"/>
          </a:p>
          <a:p>
            <a:endParaRPr lang="es-ES" dirty="0"/>
          </a:p>
          <a:p>
            <a:pPr marL="0" indent="0">
              <a:buNone/>
            </a:pPr>
            <a:r>
              <a:rPr lang="es-ES" dirty="0"/>
              <a:t>Ecuación de la velocidad instantánea</a:t>
            </a:r>
          </a:p>
          <a:p>
            <a:endParaRPr lang="es-ES" dirty="0"/>
          </a:p>
          <a:p>
            <a:pPr marL="0" indent="0">
              <a:buNone/>
            </a:pPr>
            <a:r>
              <a:rPr lang="es-ES" dirty="0"/>
              <a:t>Velocidad máxima del proyectil</a:t>
            </a:r>
          </a:p>
          <a:p>
            <a:endParaRPr lang="es-ES" dirty="0"/>
          </a:p>
          <a:p>
            <a:endParaRPr lang="es-ES" dirty="0"/>
          </a:p>
        </p:txBody>
      </p:sp>
      <p:pic>
        <p:nvPicPr>
          <p:cNvPr id="10" name="Imagen 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23014" y="2948669"/>
            <a:ext cx="4345971" cy="950272"/>
          </a:xfrm>
          <a:prstGeom prst="rect">
            <a:avLst/>
          </a:prstGeom>
        </p:spPr>
      </p:pic>
      <p:pic>
        <p:nvPicPr>
          <p:cNvPr id="11" name="Imagen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38611" y="4557388"/>
            <a:ext cx="3914775" cy="400050"/>
          </a:xfrm>
          <a:prstGeom prst="rect">
            <a:avLst/>
          </a:prstGeom>
        </p:spPr>
      </p:pic>
      <p:pic>
        <p:nvPicPr>
          <p:cNvPr id="12" name="Imagen 1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681160" y="5615885"/>
            <a:ext cx="8829675" cy="447675"/>
          </a:xfrm>
          <a:prstGeom prst="rect">
            <a:avLst/>
          </a:prstGeom>
        </p:spPr>
      </p:pic>
    </p:spTree>
    <p:extLst>
      <p:ext uri="{BB962C8B-B14F-4D97-AF65-F5344CB8AC3E}">
        <p14:creationId xmlns:p14="http://schemas.microsoft.com/office/powerpoint/2010/main" val="23051232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53" presetClass="entr" presetSubtype="16"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anim calcmode="lin" valueType="num">
                                      <p:cBhvr>
                                        <p:cTn id="11" dur="500" fill="hold"/>
                                        <p:tgtEl>
                                          <p:spTgt spid="10"/>
                                        </p:tgtEl>
                                        <p:attrNameLst>
                                          <p:attrName>ppt_w</p:attrName>
                                        </p:attrNameLst>
                                      </p:cBhvr>
                                      <p:tavLst>
                                        <p:tav tm="0">
                                          <p:val>
                                            <p:fltVal val="0"/>
                                          </p:val>
                                        </p:tav>
                                        <p:tav tm="100000">
                                          <p:val>
                                            <p:strVal val="#ppt_w"/>
                                          </p:val>
                                        </p:tav>
                                      </p:tavLst>
                                    </p:anim>
                                    <p:anim calcmode="lin" valueType="num">
                                      <p:cBhvr>
                                        <p:cTn id="12" dur="500" fill="hold"/>
                                        <p:tgtEl>
                                          <p:spTgt spid="10"/>
                                        </p:tgtEl>
                                        <p:attrNameLst>
                                          <p:attrName>ppt_h</p:attrName>
                                        </p:attrNameLst>
                                      </p:cBhvr>
                                      <p:tavLst>
                                        <p:tav tm="0">
                                          <p:val>
                                            <p:fltVal val="0"/>
                                          </p:val>
                                        </p:tav>
                                        <p:tav tm="100000">
                                          <p:val>
                                            <p:strVal val="#ppt_h"/>
                                          </p:val>
                                        </p:tav>
                                      </p:tavLst>
                                    </p:anim>
                                    <p:animEffect transition="in" filter="fade">
                                      <p:cBhvr>
                                        <p:cTn id="13" dur="500"/>
                                        <p:tgtEl>
                                          <p:spTgt spid="10"/>
                                        </p:tgtEl>
                                      </p:cBhvr>
                                    </p:animEffec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53" presetClass="entr" presetSubtype="16" fill="hold" nodeType="clickEffect">
                                  <p:stCondLst>
                                    <p:cond delay="0"/>
                                  </p:stCondLst>
                                  <p:childTnLst>
                                    <p:set>
                                      <p:cBhvr>
                                        <p:cTn id="21" dur="1" fill="hold">
                                          <p:stCondLst>
                                            <p:cond delay="0"/>
                                          </p:stCondLst>
                                        </p:cTn>
                                        <p:tgtEl>
                                          <p:spTgt spid="11"/>
                                        </p:tgtEl>
                                        <p:attrNameLst>
                                          <p:attrName>style.visibility</p:attrName>
                                        </p:attrNameLst>
                                      </p:cBhvr>
                                      <p:to>
                                        <p:strVal val="visible"/>
                                      </p:to>
                                    </p:set>
                                    <p:anim calcmode="lin" valueType="num">
                                      <p:cBhvr>
                                        <p:cTn id="22" dur="500" fill="hold"/>
                                        <p:tgtEl>
                                          <p:spTgt spid="11"/>
                                        </p:tgtEl>
                                        <p:attrNameLst>
                                          <p:attrName>ppt_w</p:attrName>
                                        </p:attrNameLst>
                                      </p:cBhvr>
                                      <p:tavLst>
                                        <p:tav tm="0">
                                          <p:val>
                                            <p:fltVal val="0"/>
                                          </p:val>
                                        </p:tav>
                                        <p:tav tm="100000">
                                          <p:val>
                                            <p:strVal val="#ppt_w"/>
                                          </p:val>
                                        </p:tav>
                                      </p:tavLst>
                                    </p:anim>
                                    <p:anim calcmode="lin" valueType="num">
                                      <p:cBhvr>
                                        <p:cTn id="23" dur="500" fill="hold"/>
                                        <p:tgtEl>
                                          <p:spTgt spid="11"/>
                                        </p:tgtEl>
                                        <p:attrNameLst>
                                          <p:attrName>ppt_h</p:attrName>
                                        </p:attrNameLst>
                                      </p:cBhvr>
                                      <p:tavLst>
                                        <p:tav tm="0">
                                          <p:val>
                                            <p:fltVal val="0"/>
                                          </p:val>
                                        </p:tav>
                                        <p:tav tm="100000">
                                          <p:val>
                                            <p:strVal val="#ppt_h"/>
                                          </p:val>
                                        </p:tav>
                                      </p:tavLst>
                                    </p:anim>
                                    <p:animEffect transition="in" filter="fade">
                                      <p:cBhvr>
                                        <p:cTn id="24" dur="500"/>
                                        <p:tgtEl>
                                          <p:spTgt spid="11"/>
                                        </p:tgtEl>
                                      </p:cBhvr>
                                    </p:animEffec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53" presetClass="entr" presetSubtype="16" fill="hold" nodeType="clickEffect">
                                  <p:stCondLst>
                                    <p:cond delay="0"/>
                                  </p:stCondLst>
                                  <p:childTnLst>
                                    <p:set>
                                      <p:cBhvr>
                                        <p:cTn id="32" dur="1" fill="hold">
                                          <p:stCondLst>
                                            <p:cond delay="0"/>
                                          </p:stCondLst>
                                        </p:cTn>
                                        <p:tgtEl>
                                          <p:spTgt spid="12"/>
                                        </p:tgtEl>
                                        <p:attrNameLst>
                                          <p:attrName>style.visibility</p:attrName>
                                        </p:attrNameLst>
                                      </p:cBhvr>
                                      <p:to>
                                        <p:strVal val="visible"/>
                                      </p:to>
                                    </p:set>
                                    <p:anim calcmode="lin" valueType="num">
                                      <p:cBhvr>
                                        <p:cTn id="33" dur="500" fill="hold"/>
                                        <p:tgtEl>
                                          <p:spTgt spid="12"/>
                                        </p:tgtEl>
                                        <p:attrNameLst>
                                          <p:attrName>ppt_w</p:attrName>
                                        </p:attrNameLst>
                                      </p:cBhvr>
                                      <p:tavLst>
                                        <p:tav tm="0">
                                          <p:val>
                                            <p:fltVal val="0"/>
                                          </p:val>
                                        </p:tav>
                                        <p:tav tm="100000">
                                          <p:val>
                                            <p:strVal val="#ppt_w"/>
                                          </p:val>
                                        </p:tav>
                                      </p:tavLst>
                                    </p:anim>
                                    <p:anim calcmode="lin" valueType="num">
                                      <p:cBhvr>
                                        <p:cTn id="34" dur="500" fill="hold"/>
                                        <p:tgtEl>
                                          <p:spTgt spid="12"/>
                                        </p:tgtEl>
                                        <p:attrNameLst>
                                          <p:attrName>ppt_h</p:attrName>
                                        </p:attrNameLst>
                                      </p:cBhvr>
                                      <p:tavLst>
                                        <p:tav tm="0">
                                          <p:val>
                                            <p:fltVal val="0"/>
                                          </p:val>
                                        </p:tav>
                                        <p:tav tm="100000">
                                          <p:val>
                                            <p:strVal val="#ppt_h"/>
                                          </p:val>
                                        </p:tav>
                                      </p:tavLst>
                                    </p:anim>
                                    <p:animEffect transition="in" filter="fade">
                                      <p:cBhvr>
                                        <p:cTn id="35"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9770" y="1033680"/>
            <a:ext cx="4112623" cy="813805"/>
          </a:xfrm>
          <a:prstGeom prst="rect">
            <a:avLst/>
          </a:prstGeom>
        </p:spPr>
      </p:pic>
      <p:pic>
        <p:nvPicPr>
          <p:cNvPr id="3" name="Imagen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9770" y="2534362"/>
            <a:ext cx="7443537" cy="578139"/>
          </a:xfrm>
          <a:prstGeom prst="rect">
            <a:avLst/>
          </a:prstGeom>
        </p:spPr>
      </p:pic>
      <p:pic>
        <p:nvPicPr>
          <p:cNvPr id="4" name="Imagen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69769" y="3987428"/>
            <a:ext cx="7619221" cy="364667"/>
          </a:xfrm>
          <a:prstGeom prst="rect">
            <a:avLst/>
          </a:prstGeom>
        </p:spPr>
      </p:pic>
      <p:pic>
        <p:nvPicPr>
          <p:cNvPr id="5" name="Imagen 4"/>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69770" y="5324653"/>
            <a:ext cx="7761834" cy="327306"/>
          </a:xfrm>
          <a:prstGeom prst="rect">
            <a:avLst/>
          </a:prstGeom>
        </p:spPr>
      </p:pic>
      <p:sp>
        <p:nvSpPr>
          <p:cNvPr id="7" name="CuadroTexto 6"/>
          <p:cNvSpPr txBox="1"/>
          <p:nvPr/>
        </p:nvSpPr>
        <p:spPr>
          <a:xfrm>
            <a:off x="716630" y="661387"/>
            <a:ext cx="5646821" cy="369332"/>
          </a:xfrm>
          <a:prstGeom prst="rect">
            <a:avLst/>
          </a:prstGeom>
          <a:noFill/>
        </p:spPr>
        <p:txBody>
          <a:bodyPr wrap="square" rtlCol="0">
            <a:spAutoFit/>
          </a:bodyPr>
          <a:lstStyle/>
          <a:p>
            <a:r>
              <a:rPr lang="es-ES" dirty="0"/>
              <a:t>Deducción Analítica del Desplazamiento</a:t>
            </a:r>
          </a:p>
        </p:txBody>
      </p:sp>
      <p:sp>
        <p:nvSpPr>
          <p:cNvPr id="8" name="CuadroTexto 7"/>
          <p:cNvSpPr txBox="1"/>
          <p:nvPr/>
        </p:nvSpPr>
        <p:spPr>
          <a:xfrm>
            <a:off x="769770" y="2035112"/>
            <a:ext cx="7443537" cy="369332"/>
          </a:xfrm>
          <a:prstGeom prst="rect">
            <a:avLst/>
          </a:prstGeom>
          <a:noFill/>
        </p:spPr>
        <p:txBody>
          <a:bodyPr wrap="square" rtlCol="0">
            <a:spAutoFit/>
          </a:bodyPr>
          <a:lstStyle/>
          <a:p>
            <a:r>
              <a:rPr lang="es-ES" dirty="0"/>
              <a:t>Distancia Recorrida en Fase Propulsada</a:t>
            </a:r>
          </a:p>
        </p:txBody>
      </p:sp>
      <p:sp>
        <p:nvSpPr>
          <p:cNvPr id="9" name="CuadroTexto 8"/>
          <p:cNvSpPr txBox="1"/>
          <p:nvPr/>
        </p:nvSpPr>
        <p:spPr>
          <a:xfrm>
            <a:off x="769769" y="3349367"/>
            <a:ext cx="7443537" cy="369332"/>
          </a:xfrm>
          <a:prstGeom prst="rect">
            <a:avLst/>
          </a:prstGeom>
          <a:noFill/>
        </p:spPr>
        <p:txBody>
          <a:bodyPr wrap="square" rtlCol="0">
            <a:spAutoFit/>
          </a:bodyPr>
          <a:lstStyle/>
          <a:p>
            <a:r>
              <a:rPr lang="es-MX" dirty="0"/>
              <a:t>Posición del Misil al Finalizar la Propulsión</a:t>
            </a:r>
            <a:endParaRPr lang="es-ES" dirty="0"/>
          </a:p>
        </p:txBody>
      </p:sp>
      <p:sp>
        <p:nvSpPr>
          <p:cNvPr id="10" name="CuadroTexto 9"/>
          <p:cNvSpPr txBox="1"/>
          <p:nvPr/>
        </p:nvSpPr>
        <p:spPr>
          <a:xfrm>
            <a:off x="716630" y="4695485"/>
            <a:ext cx="7443537" cy="369332"/>
          </a:xfrm>
          <a:prstGeom prst="rect">
            <a:avLst/>
          </a:prstGeom>
          <a:noFill/>
        </p:spPr>
        <p:txBody>
          <a:bodyPr wrap="square" rtlCol="0">
            <a:spAutoFit/>
          </a:bodyPr>
          <a:lstStyle/>
          <a:p>
            <a:r>
              <a:rPr lang="es-MX" dirty="0"/>
              <a:t>Distancia Remanente entre el Misil y el Objetivo</a:t>
            </a:r>
            <a:endParaRPr lang="es-ES" dirty="0"/>
          </a:p>
        </p:txBody>
      </p:sp>
    </p:spTree>
    <p:extLst>
      <p:ext uri="{BB962C8B-B14F-4D97-AF65-F5344CB8AC3E}">
        <p14:creationId xmlns:p14="http://schemas.microsoft.com/office/powerpoint/2010/main" val="38847421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8"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anim calcmode="lin" valueType="num">
                                      <p:cBhvr additive="base">
                                        <p:cTn id="11" dur="500" fill="hold"/>
                                        <p:tgtEl>
                                          <p:spTgt spid="2"/>
                                        </p:tgtEl>
                                        <p:attrNameLst>
                                          <p:attrName>ppt_x</p:attrName>
                                        </p:attrNameLst>
                                      </p:cBhvr>
                                      <p:tavLst>
                                        <p:tav tm="0">
                                          <p:val>
                                            <p:strVal val="0-#ppt_w/2"/>
                                          </p:val>
                                        </p:tav>
                                        <p:tav tm="100000">
                                          <p:val>
                                            <p:strVal val="#ppt_x"/>
                                          </p:val>
                                        </p:tav>
                                      </p:tavLst>
                                    </p:anim>
                                    <p:anim calcmode="lin" valueType="num">
                                      <p:cBhvr additive="base">
                                        <p:cTn id="12"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2" presetClass="entr" presetSubtype="8" fill="hold" nodeType="clickEffect">
                                  <p:stCondLst>
                                    <p:cond delay="0"/>
                                  </p:stCondLst>
                                  <p:childTnLst>
                                    <p:set>
                                      <p:cBhvr>
                                        <p:cTn id="20" dur="1" fill="hold">
                                          <p:stCondLst>
                                            <p:cond delay="0"/>
                                          </p:stCondLst>
                                        </p:cTn>
                                        <p:tgtEl>
                                          <p:spTgt spid="3"/>
                                        </p:tgtEl>
                                        <p:attrNameLst>
                                          <p:attrName>style.visibility</p:attrName>
                                        </p:attrNameLst>
                                      </p:cBhvr>
                                      <p:to>
                                        <p:strVal val="visible"/>
                                      </p:to>
                                    </p:set>
                                    <p:anim calcmode="lin" valueType="num">
                                      <p:cBhvr additive="base">
                                        <p:cTn id="21" dur="500" fill="hold"/>
                                        <p:tgtEl>
                                          <p:spTgt spid="3"/>
                                        </p:tgtEl>
                                        <p:attrNameLst>
                                          <p:attrName>ppt_x</p:attrName>
                                        </p:attrNameLst>
                                      </p:cBhvr>
                                      <p:tavLst>
                                        <p:tav tm="0">
                                          <p:val>
                                            <p:strVal val="0-#ppt_w/2"/>
                                          </p:val>
                                        </p:tav>
                                        <p:tav tm="100000">
                                          <p:val>
                                            <p:strVal val="#ppt_x"/>
                                          </p:val>
                                        </p:tav>
                                      </p:tavLst>
                                    </p:anim>
                                    <p:anim calcmode="lin" valueType="num">
                                      <p:cBhvr additive="base">
                                        <p:cTn id="22"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nodeType="clickEffect">
                                  <p:stCondLst>
                                    <p:cond delay="0"/>
                                  </p:stCondLst>
                                  <p:childTnLst>
                                    <p:set>
                                      <p:cBhvr>
                                        <p:cTn id="30" dur="1" fill="hold">
                                          <p:stCondLst>
                                            <p:cond delay="0"/>
                                          </p:stCondLst>
                                        </p:cTn>
                                        <p:tgtEl>
                                          <p:spTgt spid="4"/>
                                        </p:tgtEl>
                                        <p:attrNameLst>
                                          <p:attrName>style.visibility</p:attrName>
                                        </p:attrNameLst>
                                      </p:cBhvr>
                                      <p:to>
                                        <p:strVal val="visible"/>
                                      </p:to>
                                    </p:set>
                                    <p:anim calcmode="lin" valueType="num">
                                      <p:cBhvr additive="base">
                                        <p:cTn id="31" dur="500" fill="hold"/>
                                        <p:tgtEl>
                                          <p:spTgt spid="4"/>
                                        </p:tgtEl>
                                        <p:attrNameLst>
                                          <p:attrName>ppt_x</p:attrName>
                                        </p:attrNameLst>
                                      </p:cBhvr>
                                      <p:tavLst>
                                        <p:tav tm="0">
                                          <p:val>
                                            <p:strVal val="0-#ppt_w/2"/>
                                          </p:val>
                                        </p:tav>
                                        <p:tav tm="100000">
                                          <p:val>
                                            <p:strVal val="#ppt_x"/>
                                          </p:val>
                                        </p:tav>
                                      </p:tavLst>
                                    </p:anim>
                                    <p:anim calcmode="lin" valueType="num">
                                      <p:cBhvr additive="base">
                                        <p:cTn id="32"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0"/>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2" presetClass="entr" presetSubtype="8" fill="hold" nodeType="clickEffect">
                                  <p:stCondLst>
                                    <p:cond delay="0"/>
                                  </p:stCondLst>
                                  <p:childTnLst>
                                    <p:set>
                                      <p:cBhvr>
                                        <p:cTn id="40" dur="1" fill="hold">
                                          <p:stCondLst>
                                            <p:cond delay="0"/>
                                          </p:stCondLst>
                                        </p:cTn>
                                        <p:tgtEl>
                                          <p:spTgt spid="5"/>
                                        </p:tgtEl>
                                        <p:attrNameLst>
                                          <p:attrName>style.visibility</p:attrName>
                                        </p:attrNameLst>
                                      </p:cBhvr>
                                      <p:to>
                                        <p:strVal val="visible"/>
                                      </p:to>
                                    </p:set>
                                    <p:anim calcmode="lin" valueType="num">
                                      <p:cBhvr additive="base">
                                        <p:cTn id="41" dur="500" fill="hold"/>
                                        <p:tgtEl>
                                          <p:spTgt spid="5"/>
                                        </p:tgtEl>
                                        <p:attrNameLst>
                                          <p:attrName>ppt_x</p:attrName>
                                        </p:attrNameLst>
                                      </p:cBhvr>
                                      <p:tavLst>
                                        <p:tav tm="0">
                                          <p:val>
                                            <p:strVal val="0-#ppt_w/2"/>
                                          </p:val>
                                        </p:tav>
                                        <p:tav tm="100000">
                                          <p:val>
                                            <p:strVal val="#ppt_x"/>
                                          </p:val>
                                        </p:tav>
                                      </p:tavLst>
                                    </p:anim>
                                    <p:anim calcmode="lin" valueType="num">
                                      <p:cBhvr additive="base">
                                        <p:cTn id="42" dur="500" fill="hold"/>
                                        <p:tgtEl>
                                          <p:spTgt spid="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10"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fontScale="90000"/>
          </a:bodyPr>
          <a:lstStyle/>
          <a:p>
            <a:r>
              <a:rPr lang="es-ES" dirty="0"/>
              <a:t>Fase 3- Velocidad Relativa y Tiempo de Crucero</a:t>
            </a:r>
          </a:p>
        </p:txBody>
      </p:sp>
      <p:sp>
        <p:nvSpPr>
          <p:cNvPr id="3" name="Marcador de contenido 2"/>
          <p:cNvSpPr>
            <a:spLocks noGrp="1"/>
          </p:cNvSpPr>
          <p:nvPr>
            <p:ph idx="1"/>
          </p:nvPr>
        </p:nvSpPr>
        <p:spPr>
          <a:xfrm>
            <a:off x="1295401" y="2556931"/>
            <a:ext cx="9689274" cy="3641987"/>
          </a:xfrm>
        </p:spPr>
        <p:txBody>
          <a:bodyPr/>
          <a:lstStyle/>
          <a:p>
            <a:pPr marL="0" indent="0">
              <a:buNone/>
            </a:pPr>
            <a:r>
              <a:rPr lang="es-ES" dirty="0"/>
              <a:t>Velocidad de cierre relativo</a:t>
            </a:r>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r>
              <a:rPr lang="es-ES" dirty="0"/>
              <a:t>Recorrido del misil en fase de crucero</a:t>
            </a:r>
          </a:p>
          <a:p>
            <a:pPr marL="0" indent="0">
              <a:buNone/>
            </a:pPr>
            <a:endParaRPr lang="es-ES" dirty="0"/>
          </a:p>
        </p:txBody>
      </p:sp>
      <p:pic>
        <p:nvPicPr>
          <p:cNvPr id="4" name="Marcador de contenido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03134" y="3020230"/>
            <a:ext cx="6926352" cy="377311"/>
          </a:xfrm>
          <a:prstGeom prst="rect">
            <a:avLst/>
          </a:prstGeom>
        </p:spPr>
      </p:pic>
      <p:sp>
        <p:nvSpPr>
          <p:cNvPr id="5" name="CuadroTexto 4"/>
          <p:cNvSpPr txBox="1"/>
          <p:nvPr/>
        </p:nvSpPr>
        <p:spPr>
          <a:xfrm>
            <a:off x="1295401" y="3570850"/>
            <a:ext cx="6821905" cy="369332"/>
          </a:xfrm>
          <a:prstGeom prst="rect">
            <a:avLst/>
          </a:prstGeom>
          <a:noFill/>
        </p:spPr>
        <p:txBody>
          <a:bodyPr wrap="square" rtlCol="0">
            <a:spAutoFit/>
          </a:bodyPr>
          <a:lstStyle/>
          <a:p>
            <a:r>
              <a:rPr lang="es-MX" dirty="0"/>
              <a:t>Tiempo de Vuelo en Fase de Crucero</a:t>
            </a:r>
            <a:endParaRPr lang="es-ES" dirty="0"/>
          </a:p>
        </p:txBody>
      </p:sp>
      <p:pic>
        <p:nvPicPr>
          <p:cNvPr id="6" name="Imagen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87956" y="4113491"/>
            <a:ext cx="3682370" cy="694787"/>
          </a:xfrm>
          <a:prstGeom prst="rect">
            <a:avLst/>
          </a:prstGeom>
        </p:spPr>
      </p:pic>
      <p:sp>
        <p:nvSpPr>
          <p:cNvPr id="7" name="CuadroTexto 6"/>
          <p:cNvSpPr txBox="1"/>
          <p:nvPr/>
        </p:nvSpPr>
        <p:spPr>
          <a:xfrm>
            <a:off x="5714686" y="3570850"/>
            <a:ext cx="5743074" cy="369332"/>
          </a:xfrm>
          <a:prstGeom prst="rect">
            <a:avLst/>
          </a:prstGeom>
          <a:noFill/>
        </p:spPr>
        <p:txBody>
          <a:bodyPr wrap="square" rtlCol="0">
            <a:spAutoFit/>
          </a:bodyPr>
          <a:lstStyle/>
          <a:p>
            <a:r>
              <a:rPr lang="es-MX" dirty="0"/>
              <a:t>Respuesta A: Tiempo Total de Vuelo del Misil</a:t>
            </a:r>
            <a:endParaRPr lang="es-ES" dirty="0"/>
          </a:p>
        </p:txBody>
      </p:sp>
      <p:pic>
        <p:nvPicPr>
          <p:cNvPr id="8" name="Imagen 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637776" y="4180806"/>
            <a:ext cx="5548709" cy="402877"/>
          </a:xfrm>
          <a:prstGeom prst="rect">
            <a:avLst/>
          </a:prstGeom>
        </p:spPr>
      </p:pic>
      <p:pic>
        <p:nvPicPr>
          <p:cNvPr id="9" name="Imagen 8"/>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135948" y="5693923"/>
            <a:ext cx="6361409" cy="398117"/>
          </a:xfrm>
          <a:prstGeom prst="rect">
            <a:avLst/>
          </a:prstGeom>
        </p:spPr>
      </p:pic>
    </p:spTree>
    <p:extLst>
      <p:ext uri="{BB962C8B-B14F-4D97-AF65-F5344CB8AC3E}">
        <p14:creationId xmlns:p14="http://schemas.microsoft.com/office/powerpoint/2010/main" val="24022684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53" presetClass="entr" presetSubtype="16"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p:cTn id="11" dur="500" fill="hold"/>
                                        <p:tgtEl>
                                          <p:spTgt spid="4"/>
                                        </p:tgtEl>
                                        <p:attrNameLst>
                                          <p:attrName>ppt_w</p:attrName>
                                        </p:attrNameLst>
                                      </p:cBhvr>
                                      <p:tavLst>
                                        <p:tav tm="0">
                                          <p:val>
                                            <p:fltVal val="0"/>
                                          </p:val>
                                        </p:tav>
                                        <p:tav tm="100000">
                                          <p:val>
                                            <p:strVal val="#ppt_w"/>
                                          </p:val>
                                        </p:tav>
                                      </p:tavLst>
                                    </p:anim>
                                    <p:anim calcmode="lin" valueType="num">
                                      <p:cBhvr>
                                        <p:cTn id="12" dur="500" fill="hold"/>
                                        <p:tgtEl>
                                          <p:spTgt spid="4"/>
                                        </p:tgtEl>
                                        <p:attrNameLst>
                                          <p:attrName>ppt_h</p:attrName>
                                        </p:attrNameLst>
                                      </p:cBhvr>
                                      <p:tavLst>
                                        <p:tav tm="0">
                                          <p:val>
                                            <p:fltVal val="0"/>
                                          </p:val>
                                        </p:tav>
                                        <p:tav tm="100000">
                                          <p:val>
                                            <p:strVal val="#ppt_h"/>
                                          </p:val>
                                        </p:tav>
                                      </p:tavLst>
                                    </p:anim>
                                    <p:animEffect transition="in" filter="fade">
                                      <p:cBhvr>
                                        <p:cTn id="13" dur="500"/>
                                        <p:tgtEl>
                                          <p:spTgt spid="4"/>
                                        </p:tgtEl>
                                      </p:cBhvr>
                                    </p:animEffec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5"/>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53" presetClass="entr" presetSubtype="16"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anim calcmode="lin" valueType="num">
                                      <p:cBhvr>
                                        <p:cTn id="22" dur="500" fill="hold"/>
                                        <p:tgtEl>
                                          <p:spTgt spid="6"/>
                                        </p:tgtEl>
                                        <p:attrNameLst>
                                          <p:attrName>ppt_w</p:attrName>
                                        </p:attrNameLst>
                                      </p:cBhvr>
                                      <p:tavLst>
                                        <p:tav tm="0">
                                          <p:val>
                                            <p:fltVal val="0"/>
                                          </p:val>
                                        </p:tav>
                                        <p:tav tm="100000">
                                          <p:val>
                                            <p:strVal val="#ppt_w"/>
                                          </p:val>
                                        </p:tav>
                                      </p:tavLst>
                                    </p:anim>
                                    <p:anim calcmode="lin" valueType="num">
                                      <p:cBhvr>
                                        <p:cTn id="23" dur="500" fill="hold"/>
                                        <p:tgtEl>
                                          <p:spTgt spid="6"/>
                                        </p:tgtEl>
                                        <p:attrNameLst>
                                          <p:attrName>ppt_h</p:attrName>
                                        </p:attrNameLst>
                                      </p:cBhvr>
                                      <p:tavLst>
                                        <p:tav tm="0">
                                          <p:val>
                                            <p:fltVal val="0"/>
                                          </p:val>
                                        </p:tav>
                                        <p:tav tm="100000">
                                          <p:val>
                                            <p:strVal val="#ppt_h"/>
                                          </p:val>
                                        </p:tav>
                                      </p:tavLst>
                                    </p:anim>
                                    <p:animEffect transition="in" filter="fade">
                                      <p:cBhvr>
                                        <p:cTn id="24" dur="500"/>
                                        <p:tgtEl>
                                          <p:spTgt spid="6"/>
                                        </p:tgtEl>
                                      </p:cBhvr>
                                    </p:animEffec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53" presetClass="entr" presetSubtype="16" fill="hold" nodeType="clickEffect">
                                  <p:stCondLst>
                                    <p:cond delay="0"/>
                                  </p:stCondLst>
                                  <p:childTnLst>
                                    <p:set>
                                      <p:cBhvr>
                                        <p:cTn id="32" dur="1" fill="hold">
                                          <p:stCondLst>
                                            <p:cond delay="0"/>
                                          </p:stCondLst>
                                        </p:cTn>
                                        <p:tgtEl>
                                          <p:spTgt spid="8"/>
                                        </p:tgtEl>
                                        <p:attrNameLst>
                                          <p:attrName>style.visibility</p:attrName>
                                        </p:attrNameLst>
                                      </p:cBhvr>
                                      <p:to>
                                        <p:strVal val="visible"/>
                                      </p:to>
                                    </p:set>
                                    <p:anim calcmode="lin" valueType="num">
                                      <p:cBhvr>
                                        <p:cTn id="33" dur="500" fill="hold"/>
                                        <p:tgtEl>
                                          <p:spTgt spid="8"/>
                                        </p:tgtEl>
                                        <p:attrNameLst>
                                          <p:attrName>ppt_w</p:attrName>
                                        </p:attrNameLst>
                                      </p:cBhvr>
                                      <p:tavLst>
                                        <p:tav tm="0">
                                          <p:val>
                                            <p:fltVal val="0"/>
                                          </p:val>
                                        </p:tav>
                                        <p:tav tm="100000">
                                          <p:val>
                                            <p:strVal val="#ppt_w"/>
                                          </p:val>
                                        </p:tav>
                                      </p:tavLst>
                                    </p:anim>
                                    <p:anim calcmode="lin" valueType="num">
                                      <p:cBhvr>
                                        <p:cTn id="34" dur="500" fill="hold"/>
                                        <p:tgtEl>
                                          <p:spTgt spid="8"/>
                                        </p:tgtEl>
                                        <p:attrNameLst>
                                          <p:attrName>ppt_h</p:attrName>
                                        </p:attrNameLst>
                                      </p:cBhvr>
                                      <p:tavLst>
                                        <p:tav tm="0">
                                          <p:val>
                                            <p:fltVal val="0"/>
                                          </p:val>
                                        </p:tav>
                                        <p:tav tm="100000">
                                          <p:val>
                                            <p:strVal val="#ppt_h"/>
                                          </p:val>
                                        </p:tav>
                                      </p:tavLst>
                                    </p:anim>
                                    <p:animEffect transition="in" filter="fade">
                                      <p:cBhvr>
                                        <p:cTn id="35" dur="500"/>
                                        <p:tgtEl>
                                          <p:spTgt spid="8"/>
                                        </p:tgtEl>
                                      </p:cBhvr>
                                    </p:animEffec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grpId="0" nodeType="clickEffect">
                                  <p:stCondLst>
                                    <p:cond delay="0"/>
                                  </p:stCondLst>
                                  <p:childTnLst>
                                    <p:set>
                                      <p:cBhvr>
                                        <p:cTn id="39"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53" presetClass="entr" presetSubtype="16" fill="hold" nodeType="clickEffect">
                                  <p:stCondLst>
                                    <p:cond delay="0"/>
                                  </p:stCondLst>
                                  <p:childTnLst>
                                    <p:set>
                                      <p:cBhvr>
                                        <p:cTn id="43" dur="1" fill="hold">
                                          <p:stCondLst>
                                            <p:cond delay="0"/>
                                          </p:stCondLst>
                                        </p:cTn>
                                        <p:tgtEl>
                                          <p:spTgt spid="9"/>
                                        </p:tgtEl>
                                        <p:attrNameLst>
                                          <p:attrName>style.visibility</p:attrName>
                                        </p:attrNameLst>
                                      </p:cBhvr>
                                      <p:to>
                                        <p:strVal val="visible"/>
                                      </p:to>
                                    </p:set>
                                    <p:anim calcmode="lin" valueType="num">
                                      <p:cBhvr>
                                        <p:cTn id="44" dur="500" fill="hold"/>
                                        <p:tgtEl>
                                          <p:spTgt spid="9"/>
                                        </p:tgtEl>
                                        <p:attrNameLst>
                                          <p:attrName>ppt_w</p:attrName>
                                        </p:attrNameLst>
                                      </p:cBhvr>
                                      <p:tavLst>
                                        <p:tav tm="0">
                                          <p:val>
                                            <p:fltVal val="0"/>
                                          </p:val>
                                        </p:tav>
                                        <p:tav tm="100000">
                                          <p:val>
                                            <p:strVal val="#ppt_w"/>
                                          </p:val>
                                        </p:tav>
                                      </p:tavLst>
                                    </p:anim>
                                    <p:anim calcmode="lin" valueType="num">
                                      <p:cBhvr>
                                        <p:cTn id="45" dur="500" fill="hold"/>
                                        <p:tgtEl>
                                          <p:spTgt spid="9"/>
                                        </p:tgtEl>
                                        <p:attrNameLst>
                                          <p:attrName>ppt_h</p:attrName>
                                        </p:attrNameLst>
                                      </p:cBhvr>
                                      <p:tavLst>
                                        <p:tav tm="0">
                                          <p:val>
                                            <p:fltVal val="0"/>
                                          </p:val>
                                        </p:tav>
                                        <p:tav tm="100000">
                                          <p:val>
                                            <p:strVal val="#ppt_h"/>
                                          </p:val>
                                        </p:tav>
                                      </p:tavLst>
                                    </p:anim>
                                    <p:animEffect transition="in" filter="fade">
                                      <p:cBhvr>
                                        <p:cTn id="46"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5"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t>Resultados</a:t>
            </a:r>
          </a:p>
        </p:txBody>
      </p:sp>
      <p:sp>
        <p:nvSpPr>
          <p:cNvPr id="3" name="Marcador de texto 2"/>
          <p:cNvSpPr>
            <a:spLocks noGrp="1"/>
          </p:cNvSpPr>
          <p:nvPr>
            <p:ph type="body" idx="1"/>
          </p:nvPr>
        </p:nvSpPr>
        <p:spPr>
          <a:xfrm>
            <a:off x="1295402" y="2578441"/>
            <a:ext cx="4718304" cy="576262"/>
          </a:xfrm>
        </p:spPr>
        <p:txBody>
          <a:bodyPr/>
          <a:lstStyle/>
          <a:p>
            <a:r>
              <a:rPr lang="es-ES" dirty="0"/>
              <a:t>Tiempo de vuelo del misil</a:t>
            </a:r>
          </a:p>
        </p:txBody>
      </p:sp>
      <p:sp>
        <p:nvSpPr>
          <p:cNvPr id="5" name="Marcador de texto 4"/>
          <p:cNvSpPr>
            <a:spLocks noGrp="1"/>
          </p:cNvSpPr>
          <p:nvPr>
            <p:ph type="body" sz="quarter" idx="3"/>
          </p:nvPr>
        </p:nvSpPr>
        <p:spPr>
          <a:xfrm>
            <a:off x="1295402" y="3790822"/>
            <a:ext cx="4718304" cy="576262"/>
          </a:xfrm>
        </p:spPr>
        <p:txBody>
          <a:bodyPr/>
          <a:lstStyle/>
          <a:p>
            <a:r>
              <a:rPr lang="es-ES" dirty="0"/>
              <a:t>Recorrido del misil</a:t>
            </a:r>
          </a:p>
        </p:txBody>
      </p:sp>
      <p:pic>
        <p:nvPicPr>
          <p:cNvPr id="7" name="Marcador de contenido 6"/>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2934051" y="3350352"/>
            <a:ext cx="6323897" cy="437501"/>
          </a:xfrm>
          <a:prstGeom prst="rect">
            <a:avLst/>
          </a:prstGeom>
        </p:spPr>
      </p:pic>
      <p:pic>
        <p:nvPicPr>
          <p:cNvPr id="8" name="Marcador de contenido 7"/>
          <p:cNvPicPr>
            <a:picLocks noGrp="1" noChangeAspect="1"/>
          </p:cNvPicPr>
          <p:nvPr>
            <p:ph sz="quarter" idx="4"/>
          </p:nvPr>
        </p:nvPicPr>
        <p:blipFill>
          <a:blip r:embed="rId3">
            <a:extLst>
              <a:ext uri="{28A0092B-C50C-407E-A947-70E740481C1C}">
                <a14:useLocalDpi xmlns:a14="http://schemas.microsoft.com/office/drawing/2010/main" val="0"/>
              </a:ext>
            </a:extLst>
          </a:blip>
          <a:stretch>
            <a:fillRect/>
          </a:stretch>
        </p:blipFill>
        <p:spPr>
          <a:xfrm>
            <a:off x="2509073" y="4572000"/>
            <a:ext cx="7831028" cy="344384"/>
          </a:xfrm>
          <a:prstGeom prst="rect">
            <a:avLst/>
          </a:prstGeom>
        </p:spPr>
      </p:pic>
    </p:spTree>
    <p:extLst>
      <p:ext uri="{BB962C8B-B14F-4D97-AF65-F5344CB8AC3E}">
        <p14:creationId xmlns:p14="http://schemas.microsoft.com/office/powerpoint/2010/main" val="1037029360"/>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3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p:cTn id="11" dur="1000" fill="hold"/>
                                        <p:tgtEl>
                                          <p:spTgt spid="7"/>
                                        </p:tgtEl>
                                        <p:attrNameLst>
                                          <p:attrName>ppt_w</p:attrName>
                                        </p:attrNameLst>
                                      </p:cBhvr>
                                      <p:tavLst>
                                        <p:tav tm="0">
                                          <p:val>
                                            <p:fltVal val="0"/>
                                          </p:val>
                                        </p:tav>
                                        <p:tav tm="100000">
                                          <p:val>
                                            <p:strVal val="#ppt_w"/>
                                          </p:val>
                                        </p:tav>
                                      </p:tavLst>
                                    </p:anim>
                                    <p:anim calcmode="lin" valueType="num">
                                      <p:cBhvr>
                                        <p:cTn id="12" dur="1000" fill="hold"/>
                                        <p:tgtEl>
                                          <p:spTgt spid="7"/>
                                        </p:tgtEl>
                                        <p:attrNameLst>
                                          <p:attrName>ppt_h</p:attrName>
                                        </p:attrNameLst>
                                      </p:cBhvr>
                                      <p:tavLst>
                                        <p:tav tm="0">
                                          <p:val>
                                            <p:fltVal val="0"/>
                                          </p:val>
                                        </p:tav>
                                        <p:tav tm="100000">
                                          <p:val>
                                            <p:strVal val="#ppt_h"/>
                                          </p:val>
                                        </p:tav>
                                      </p:tavLst>
                                    </p:anim>
                                    <p:anim calcmode="lin" valueType="num">
                                      <p:cBhvr>
                                        <p:cTn id="13" dur="1000" fill="hold"/>
                                        <p:tgtEl>
                                          <p:spTgt spid="7"/>
                                        </p:tgtEl>
                                        <p:attrNameLst>
                                          <p:attrName>style.rotation</p:attrName>
                                        </p:attrNameLst>
                                      </p:cBhvr>
                                      <p:tavLst>
                                        <p:tav tm="0">
                                          <p:val>
                                            <p:fltVal val="90"/>
                                          </p:val>
                                        </p:tav>
                                        <p:tav tm="100000">
                                          <p:val>
                                            <p:fltVal val="0"/>
                                          </p:val>
                                        </p:tav>
                                      </p:tavLst>
                                    </p:anim>
                                    <p:animEffect transition="in" filter="fade">
                                      <p:cBhvr>
                                        <p:cTn id="14" dur="1000"/>
                                        <p:tgtEl>
                                          <p:spTgt spid="7"/>
                                        </p:tgtEl>
                                      </p:cBhvr>
                                    </p:animEffec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31" presetClass="entr" presetSubtype="0" fill="hold" nodeType="clickEffect">
                                  <p:stCondLst>
                                    <p:cond delay="0"/>
                                  </p:stCondLst>
                                  <p:childTnLst>
                                    <p:set>
                                      <p:cBhvr>
                                        <p:cTn id="22" dur="1" fill="hold">
                                          <p:stCondLst>
                                            <p:cond delay="0"/>
                                          </p:stCondLst>
                                        </p:cTn>
                                        <p:tgtEl>
                                          <p:spTgt spid="8"/>
                                        </p:tgtEl>
                                        <p:attrNameLst>
                                          <p:attrName>style.visibility</p:attrName>
                                        </p:attrNameLst>
                                      </p:cBhvr>
                                      <p:to>
                                        <p:strVal val="visible"/>
                                      </p:to>
                                    </p:set>
                                    <p:anim calcmode="lin" valueType="num">
                                      <p:cBhvr>
                                        <p:cTn id="23" dur="1000" fill="hold"/>
                                        <p:tgtEl>
                                          <p:spTgt spid="8"/>
                                        </p:tgtEl>
                                        <p:attrNameLst>
                                          <p:attrName>ppt_w</p:attrName>
                                        </p:attrNameLst>
                                      </p:cBhvr>
                                      <p:tavLst>
                                        <p:tav tm="0">
                                          <p:val>
                                            <p:fltVal val="0"/>
                                          </p:val>
                                        </p:tav>
                                        <p:tav tm="100000">
                                          <p:val>
                                            <p:strVal val="#ppt_w"/>
                                          </p:val>
                                        </p:tav>
                                      </p:tavLst>
                                    </p:anim>
                                    <p:anim calcmode="lin" valueType="num">
                                      <p:cBhvr>
                                        <p:cTn id="24" dur="1000" fill="hold"/>
                                        <p:tgtEl>
                                          <p:spTgt spid="8"/>
                                        </p:tgtEl>
                                        <p:attrNameLst>
                                          <p:attrName>ppt_h</p:attrName>
                                        </p:attrNameLst>
                                      </p:cBhvr>
                                      <p:tavLst>
                                        <p:tav tm="0">
                                          <p:val>
                                            <p:fltVal val="0"/>
                                          </p:val>
                                        </p:tav>
                                        <p:tav tm="100000">
                                          <p:val>
                                            <p:strVal val="#ppt_h"/>
                                          </p:val>
                                        </p:tav>
                                      </p:tavLst>
                                    </p:anim>
                                    <p:anim calcmode="lin" valueType="num">
                                      <p:cBhvr>
                                        <p:cTn id="25" dur="1000" fill="hold"/>
                                        <p:tgtEl>
                                          <p:spTgt spid="8"/>
                                        </p:tgtEl>
                                        <p:attrNameLst>
                                          <p:attrName>style.rotation</p:attrName>
                                        </p:attrNameLst>
                                      </p:cBhvr>
                                      <p:tavLst>
                                        <p:tav tm="0">
                                          <p:val>
                                            <p:fltVal val="90"/>
                                          </p:val>
                                        </p:tav>
                                        <p:tav tm="100000">
                                          <p:val>
                                            <p:fltVal val="0"/>
                                          </p:val>
                                        </p:tav>
                                      </p:tavLst>
                                    </p:anim>
                                    <p:animEffect transition="in" filter="fade">
                                      <p:cBhvr>
                                        <p:cTn id="26" dur="1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p:txBody>
          <a:bodyPr/>
          <a:lstStyle/>
          <a:p>
            <a:r>
              <a:rPr lang="es-ES" dirty="0"/>
              <a:t>Herramientas Utilizadas</a:t>
            </a:r>
          </a:p>
        </p:txBody>
      </p:sp>
    </p:spTree>
    <p:extLst>
      <p:ext uri="{BB962C8B-B14F-4D97-AF65-F5344CB8AC3E}">
        <p14:creationId xmlns:p14="http://schemas.microsoft.com/office/powerpoint/2010/main" val="3934465135"/>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path" presetSubtype="0" accel="50000" decel="50000" fill="hold" grpId="0" nodeType="clickEffect">
                                  <p:stCondLst>
                                    <p:cond delay="0"/>
                                  </p:stCondLst>
                                  <p:childTnLst>
                                    <p:animMotion origin="layout" path="M 0 0 L 0 0.25 E" pathEditMode="relative" ptsTypes="">
                                      <p:cBhvr>
                                        <p:cTn id="6" dur="2000" fill="hold"/>
                                        <p:tgtEl>
                                          <p:spTgt spid="2"/>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42215" y="1359830"/>
            <a:ext cx="1666760" cy="1666760"/>
          </a:xfrm>
          <a:prstGeom prst="rect">
            <a:avLst/>
          </a:prstGeom>
        </p:spPr>
      </p:pic>
      <p:pic>
        <p:nvPicPr>
          <p:cNvPr id="3" name="Imagen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18561" y="1661021"/>
            <a:ext cx="3298543" cy="1114150"/>
          </a:xfrm>
          <a:prstGeom prst="rect">
            <a:avLst/>
          </a:prstGeom>
        </p:spPr>
      </p:pic>
      <p:pic>
        <p:nvPicPr>
          <p:cNvPr id="4" name="Imagen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090196" y="1445917"/>
            <a:ext cx="1494586" cy="1494586"/>
          </a:xfrm>
          <a:prstGeom prst="rect">
            <a:avLst/>
          </a:prstGeom>
        </p:spPr>
      </p:pic>
      <p:sp>
        <p:nvSpPr>
          <p:cNvPr id="5" name="CuadroTexto 4"/>
          <p:cNvSpPr txBox="1"/>
          <p:nvPr/>
        </p:nvSpPr>
        <p:spPr>
          <a:xfrm>
            <a:off x="1009328" y="3107607"/>
            <a:ext cx="1960374" cy="1200329"/>
          </a:xfrm>
          <a:prstGeom prst="rect">
            <a:avLst/>
          </a:prstGeom>
          <a:noFill/>
        </p:spPr>
        <p:txBody>
          <a:bodyPr wrap="square" rtlCol="0">
            <a:spAutoFit/>
          </a:bodyPr>
          <a:lstStyle/>
          <a:p>
            <a:r>
              <a:rPr lang="es-MX" dirty="0"/>
              <a:t>Entorno de desarrollo (</a:t>
            </a:r>
            <a:r>
              <a:rPr lang="es-MX" dirty="0" err="1"/>
              <a:t>ide</a:t>
            </a:r>
            <a:r>
              <a:rPr lang="es-MX" dirty="0"/>
              <a:t>)para la edición de código.</a:t>
            </a:r>
            <a:endParaRPr lang="es-ES" dirty="0"/>
          </a:p>
        </p:txBody>
      </p:sp>
      <p:sp>
        <p:nvSpPr>
          <p:cNvPr id="6" name="CuadroTexto 5"/>
          <p:cNvSpPr txBox="1"/>
          <p:nvPr/>
        </p:nvSpPr>
        <p:spPr>
          <a:xfrm>
            <a:off x="3832470" y="3026590"/>
            <a:ext cx="2376292" cy="923330"/>
          </a:xfrm>
          <a:prstGeom prst="rect">
            <a:avLst/>
          </a:prstGeom>
          <a:noFill/>
        </p:spPr>
        <p:txBody>
          <a:bodyPr wrap="square" rtlCol="0">
            <a:spAutoFit/>
          </a:bodyPr>
          <a:lstStyle/>
          <a:p>
            <a:r>
              <a:rPr lang="es-MX" dirty="0"/>
              <a:t>Lenguaje de programación integrado con la librería </a:t>
            </a:r>
            <a:r>
              <a:rPr lang="es-MX" dirty="0" err="1"/>
              <a:t>Pygame</a:t>
            </a:r>
            <a:r>
              <a:rPr lang="es-MX" dirty="0"/>
              <a:t> </a:t>
            </a:r>
            <a:endParaRPr lang="es-ES" dirty="0"/>
          </a:p>
        </p:txBody>
      </p:sp>
      <p:sp>
        <p:nvSpPr>
          <p:cNvPr id="7" name="CuadroTexto 6"/>
          <p:cNvSpPr txBox="1"/>
          <p:nvPr/>
        </p:nvSpPr>
        <p:spPr>
          <a:xfrm>
            <a:off x="7212325" y="3284479"/>
            <a:ext cx="1478670" cy="2862322"/>
          </a:xfrm>
          <a:prstGeom prst="rect">
            <a:avLst/>
          </a:prstGeom>
          <a:noFill/>
        </p:spPr>
        <p:txBody>
          <a:bodyPr wrap="square" rtlCol="0">
            <a:spAutoFit/>
          </a:bodyPr>
          <a:lstStyle/>
          <a:p>
            <a:r>
              <a:rPr lang="es-MX" dirty="0"/>
              <a:t>Simulador de vehículos de combate con herramienta de medición balística experimental con telemetría en tiempo real.</a:t>
            </a:r>
            <a:endParaRPr lang="es-ES" dirty="0"/>
          </a:p>
        </p:txBody>
      </p:sp>
      <p:pic>
        <p:nvPicPr>
          <p:cNvPr id="8" name="Imagen 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133375" y="1445917"/>
            <a:ext cx="2107564" cy="1580673"/>
          </a:xfrm>
          <a:prstGeom prst="rect">
            <a:avLst/>
          </a:prstGeom>
        </p:spPr>
      </p:pic>
      <p:sp>
        <p:nvSpPr>
          <p:cNvPr id="9" name="CuadroTexto 8"/>
          <p:cNvSpPr txBox="1"/>
          <p:nvPr/>
        </p:nvSpPr>
        <p:spPr>
          <a:xfrm>
            <a:off x="1009328" y="909481"/>
            <a:ext cx="1666760" cy="369332"/>
          </a:xfrm>
          <a:prstGeom prst="rect">
            <a:avLst/>
          </a:prstGeom>
          <a:noFill/>
        </p:spPr>
        <p:txBody>
          <a:bodyPr wrap="square" rtlCol="0">
            <a:spAutoFit/>
          </a:bodyPr>
          <a:lstStyle/>
          <a:p>
            <a:r>
              <a:rPr lang="es-ES" dirty="0"/>
              <a:t>PYCHARM</a:t>
            </a:r>
          </a:p>
        </p:txBody>
      </p:sp>
      <p:sp>
        <p:nvSpPr>
          <p:cNvPr id="10" name="CuadroTexto 9"/>
          <p:cNvSpPr txBox="1"/>
          <p:nvPr/>
        </p:nvSpPr>
        <p:spPr>
          <a:xfrm>
            <a:off x="4134452" y="909481"/>
            <a:ext cx="1666760" cy="369332"/>
          </a:xfrm>
          <a:prstGeom prst="rect">
            <a:avLst/>
          </a:prstGeom>
          <a:noFill/>
        </p:spPr>
        <p:txBody>
          <a:bodyPr wrap="square" rtlCol="0">
            <a:spAutoFit/>
          </a:bodyPr>
          <a:lstStyle/>
          <a:p>
            <a:r>
              <a:rPr lang="es-ES" dirty="0"/>
              <a:t>PYTHON</a:t>
            </a:r>
          </a:p>
        </p:txBody>
      </p:sp>
      <p:sp>
        <p:nvSpPr>
          <p:cNvPr id="11" name="CuadroTexto 10"/>
          <p:cNvSpPr txBox="1"/>
          <p:nvPr/>
        </p:nvSpPr>
        <p:spPr>
          <a:xfrm>
            <a:off x="6803472" y="904597"/>
            <a:ext cx="1953484" cy="369332"/>
          </a:xfrm>
          <a:prstGeom prst="rect">
            <a:avLst/>
          </a:prstGeom>
          <a:noFill/>
        </p:spPr>
        <p:txBody>
          <a:bodyPr wrap="square" rtlCol="0">
            <a:spAutoFit/>
          </a:bodyPr>
          <a:lstStyle/>
          <a:p>
            <a:r>
              <a:rPr lang="es-ES" dirty="0"/>
              <a:t>WAR THUNDER</a:t>
            </a:r>
          </a:p>
        </p:txBody>
      </p:sp>
      <p:sp>
        <p:nvSpPr>
          <p:cNvPr id="12" name="CuadroTexto 11"/>
          <p:cNvSpPr txBox="1"/>
          <p:nvPr/>
        </p:nvSpPr>
        <p:spPr>
          <a:xfrm>
            <a:off x="9210415" y="878016"/>
            <a:ext cx="1953484" cy="369332"/>
          </a:xfrm>
          <a:prstGeom prst="rect">
            <a:avLst/>
          </a:prstGeom>
          <a:noFill/>
        </p:spPr>
        <p:txBody>
          <a:bodyPr wrap="square" rtlCol="0">
            <a:spAutoFit/>
          </a:bodyPr>
          <a:lstStyle/>
          <a:p>
            <a:r>
              <a:rPr lang="es-ES" dirty="0"/>
              <a:t>GEMINI (IA)</a:t>
            </a:r>
          </a:p>
        </p:txBody>
      </p:sp>
      <p:sp>
        <p:nvSpPr>
          <p:cNvPr id="14" name="CuadroTexto 13"/>
          <p:cNvSpPr txBox="1"/>
          <p:nvPr/>
        </p:nvSpPr>
        <p:spPr>
          <a:xfrm>
            <a:off x="9447822" y="3225159"/>
            <a:ext cx="1478670" cy="1477328"/>
          </a:xfrm>
          <a:prstGeom prst="rect">
            <a:avLst/>
          </a:prstGeom>
          <a:noFill/>
        </p:spPr>
        <p:txBody>
          <a:bodyPr wrap="square" rtlCol="0">
            <a:spAutoFit/>
          </a:bodyPr>
          <a:lstStyle/>
          <a:p>
            <a:r>
              <a:rPr lang="es-MX" dirty="0"/>
              <a:t>Herramienta de Inteligencia artificial utilizado como apoyo </a:t>
            </a:r>
            <a:endParaRPr lang="es-ES" dirty="0"/>
          </a:p>
        </p:txBody>
      </p:sp>
    </p:spTree>
    <p:extLst>
      <p:ext uri="{BB962C8B-B14F-4D97-AF65-F5344CB8AC3E}">
        <p14:creationId xmlns:p14="http://schemas.microsoft.com/office/powerpoint/2010/main" val="892124361"/>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9"/>
                                        </p:tgtEl>
                                      </p:cBhvr>
                                    </p:animEffect>
                                    <p:animScale>
                                      <p:cBhvr>
                                        <p:cTn id="7" dur="250" autoRev="1" fill="hold"/>
                                        <p:tgtEl>
                                          <p:spTgt spid="9"/>
                                        </p:tgtEl>
                                      </p:cBhvr>
                                      <p:by x="105000" y="105000"/>
                                    </p:animScale>
                                  </p:childTnLst>
                                </p:cTn>
                              </p:par>
                            </p:childTnLst>
                          </p:cTn>
                        </p:par>
                      </p:childTnLst>
                    </p:cTn>
                  </p:par>
                  <p:par>
                    <p:cTn id="8" fill="hold">
                      <p:stCondLst>
                        <p:cond delay="indefinite"/>
                      </p:stCondLst>
                      <p:childTnLst>
                        <p:par>
                          <p:cTn id="9" fill="hold">
                            <p:stCondLst>
                              <p:cond delay="0"/>
                            </p:stCondLst>
                            <p:childTnLst>
                              <p:par>
                                <p:cTn id="10" presetID="26" presetClass="emph" presetSubtype="0" fill="hold" nodeType="clickEffect">
                                  <p:stCondLst>
                                    <p:cond delay="0"/>
                                  </p:stCondLst>
                                  <p:childTnLst>
                                    <p:animEffect transition="out" filter="fade">
                                      <p:cBhvr>
                                        <p:cTn id="11" dur="500" tmFilter="0, 0; .2, .5; .8, .5; 1, 0"/>
                                        <p:tgtEl>
                                          <p:spTgt spid="2"/>
                                        </p:tgtEl>
                                      </p:cBhvr>
                                    </p:animEffect>
                                    <p:animScale>
                                      <p:cBhvr>
                                        <p:cTn id="12" dur="250" autoRev="1" fill="hold"/>
                                        <p:tgtEl>
                                          <p:spTgt spid="2"/>
                                        </p:tgtEl>
                                      </p:cBhvr>
                                      <p:by x="105000" y="105000"/>
                                    </p:animScale>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nodeType="clickEffect">
                                  <p:stCondLst>
                                    <p:cond delay="0"/>
                                  </p:stCondLst>
                                  <p:childTnLst>
                                    <p:set>
                                      <p:cBhvr>
                                        <p:cTn id="16" dur="1" fill="hold">
                                          <p:stCondLst>
                                            <p:cond delay="0"/>
                                          </p:stCondLst>
                                        </p:cTn>
                                        <p:tgtEl>
                                          <p:spTgt spid="5">
                                            <p:txEl>
                                              <p:pRg st="0" end="0"/>
                                            </p:txEl>
                                          </p:spTgt>
                                        </p:tgtEl>
                                        <p:attrNameLst>
                                          <p:attrName>style.visibility</p:attrName>
                                        </p:attrNameLst>
                                      </p:cBhvr>
                                      <p:to>
                                        <p:strVal val="visible"/>
                                      </p:to>
                                    </p:set>
                                    <p:animEffect transition="in" filter="fade">
                                      <p:cBhvr>
                                        <p:cTn id="17" dur="1000"/>
                                        <p:tgtEl>
                                          <p:spTgt spid="5">
                                            <p:txEl>
                                              <p:pRg st="0" end="0"/>
                                            </p:txEl>
                                          </p:spTgt>
                                        </p:tgtEl>
                                      </p:cBhvr>
                                    </p:animEffect>
                                    <p:anim calcmode="lin" valueType="num">
                                      <p:cBhvr>
                                        <p:cTn id="18" dur="1000" fill="hold"/>
                                        <p:tgtEl>
                                          <p:spTgt spid="5">
                                            <p:txEl>
                                              <p:pRg st="0" end="0"/>
                                            </p:txEl>
                                          </p:spTgt>
                                        </p:tgtEl>
                                        <p:attrNameLst>
                                          <p:attrName>ppt_x</p:attrName>
                                        </p:attrNameLst>
                                      </p:cBhvr>
                                      <p:tavLst>
                                        <p:tav tm="0">
                                          <p:val>
                                            <p:strVal val="#ppt_x"/>
                                          </p:val>
                                        </p:tav>
                                        <p:tav tm="100000">
                                          <p:val>
                                            <p:strVal val="#ppt_x"/>
                                          </p:val>
                                        </p:tav>
                                      </p:tavLst>
                                    </p:anim>
                                    <p:anim calcmode="lin" valueType="num">
                                      <p:cBhvr>
                                        <p:cTn id="19" dur="1000" fill="hold"/>
                                        <p:tgtEl>
                                          <p:spTgt spid="5">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6" presetClass="emph" presetSubtype="0" fill="hold" grpId="0" nodeType="clickEffect">
                                  <p:stCondLst>
                                    <p:cond delay="0"/>
                                  </p:stCondLst>
                                  <p:childTnLst>
                                    <p:animEffect transition="out" filter="fade">
                                      <p:cBhvr>
                                        <p:cTn id="23" dur="500" tmFilter="0, 0; .2, .5; .8, .5; 1, 0"/>
                                        <p:tgtEl>
                                          <p:spTgt spid="10"/>
                                        </p:tgtEl>
                                      </p:cBhvr>
                                    </p:animEffect>
                                    <p:animScale>
                                      <p:cBhvr>
                                        <p:cTn id="24" dur="250" autoRev="1" fill="hold"/>
                                        <p:tgtEl>
                                          <p:spTgt spid="10"/>
                                        </p:tgtEl>
                                      </p:cBhvr>
                                      <p:by x="105000" y="105000"/>
                                    </p:animScale>
                                  </p:childTnLst>
                                </p:cTn>
                              </p:par>
                            </p:childTnLst>
                          </p:cTn>
                        </p:par>
                      </p:childTnLst>
                    </p:cTn>
                  </p:par>
                  <p:par>
                    <p:cTn id="25" fill="hold">
                      <p:stCondLst>
                        <p:cond delay="indefinite"/>
                      </p:stCondLst>
                      <p:childTnLst>
                        <p:par>
                          <p:cTn id="26" fill="hold">
                            <p:stCondLst>
                              <p:cond delay="0"/>
                            </p:stCondLst>
                            <p:childTnLst>
                              <p:par>
                                <p:cTn id="27" presetID="26" presetClass="emph" presetSubtype="0" fill="hold" nodeType="clickEffect">
                                  <p:stCondLst>
                                    <p:cond delay="0"/>
                                  </p:stCondLst>
                                  <p:childTnLst>
                                    <p:animEffect transition="out" filter="fade">
                                      <p:cBhvr>
                                        <p:cTn id="28" dur="500" tmFilter="0, 0; .2, .5; .8, .5; 1, 0"/>
                                        <p:tgtEl>
                                          <p:spTgt spid="3"/>
                                        </p:tgtEl>
                                      </p:cBhvr>
                                    </p:animEffect>
                                    <p:animScale>
                                      <p:cBhvr>
                                        <p:cTn id="29" dur="250" autoRev="1" fill="hold"/>
                                        <p:tgtEl>
                                          <p:spTgt spid="3"/>
                                        </p:tgtEl>
                                      </p:cBhvr>
                                      <p:by x="105000" y="105000"/>
                                    </p:animScale>
                                  </p:childTnLst>
                                </p:cTn>
                              </p:par>
                            </p:childTnLst>
                          </p:cTn>
                        </p:par>
                      </p:childTnLst>
                    </p:cTn>
                  </p:par>
                  <p:par>
                    <p:cTn id="30" fill="hold">
                      <p:stCondLst>
                        <p:cond delay="indefinite"/>
                      </p:stCondLst>
                      <p:childTnLst>
                        <p:par>
                          <p:cTn id="31" fill="hold">
                            <p:stCondLst>
                              <p:cond delay="0"/>
                            </p:stCondLst>
                            <p:childTnLst>
                              <p:par>
                                <p:cTn id="32" presetID="2" presetClass="entr" presetSubtype="4" fill="hold" nodeType="clickEffect">
                                  <p:stCondLst>
                                    <p:cond delay="0"/>
                                  </p:stCondLst>
                                  <p:childTnLst>
                                    <p:set>
                                      <p:cBhvr>
                                        <p:cTn id="33" dur="1" fill="hold">
                                          <p:stCondLst>
                                            <p:cond delay="0"/>
                                          </p:stCondLst>
                                        </p:cTn>
                                        <p:tgtEl>
                                          <p:spTgt spid="6">
                                            <p:txEl>
                                              <p:pRg st="0" end="0"/>
                                            </p:txEl>
                                          </p:spTgt>
                                        </p:tgtEl>
                                        <p:attrNameLst>
                                          <p:attrName>style.visibility</p:attrName>
                                        </p:attrNameLst>
                                      </p:cBhvr>
                                      <p:to>
                                        <p:strVal val="visible"/>
                                      </p:to>
                                    </p:set>
                                    <p:anim calcmode="lin" valueType="num">
                                      <p:cBhvr additive="base">
                                        <p:cTn id="34" dur="500" fill="hold"/>
                                        <p:tgtEl>
                                          <p:spTgt spid="6">
                                            <p:txEl>
                                              <p:pRg st="0" end="0"/>
                                            </p:txEl>
                                          </p:spTgt>
                                        </p:tgtEl>
                                        <p:attrNameLst>
                                          <p:attrName>ppt_x</p:attrName>
                                        </p:attrNameLst>
                                      </p:cBhvr>
                                      <p:tavLst>
                                        <p:tav tm="0">
                                          <p:val>
                                            <p:strVal val="#ppt_x"/>
                                          </p:val>
                                        </p:tav>
                                        <p:tav tm="100000">
                                          <p:val>
                                            <p:strVal val="#ppt_x"/>
                                          </p:val>
                                        </p:tav>
                                      </p:tavLst>
                                    </p:anim>
                                    <p:anim calcmode="lin" valueType="num">
                                      <p:cBhvr additive="base">
                                        <p:cTn id="35" dur="500" fill="hold"/>
                                        <p:tgtEl>
                                          <p:spTgt spid="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26" presetClass="emph" presetSubtype="0" fill="hold" grpId="0" nodeType="clickEffect">
                                  <p:stCondLst>
                                    <p:cond delay="0"/>
                                  </p:stCondLst>
                                  <p:childTnLst>
                                    <p:animEffect transition="out" filter="fade">
                                      <p:cBhvr>
                                        <p:cTn id="39" dur="500" tmFilter="0, 0; .2, .5; .8, .5; 1, 0"/>
                                        <p:tgtEl>
                                          <p:spTgt spid="11"/>
                                        </p:tgtEl>
                                      </p:cBhvr>
                                    </p:animEffect>
                                    <p:animScale>
                                      <p:cBhvr>
                                        <p:cTn id="40" dur="250" autoRev="1" fill="hold"/>
                                        <p:tgtEl>
                                          <p:spTgt spid="11"/>
                                        </p:tgtEl>
                                      </p:cBhvr>
                                      <p:by x="105000" y="105000"/>
                                    </p:animScale>
                                  </p:childTnLst>
                                </p:cTn>
                              </p:par>
                            </p:childTnLst>
                          </p:cTn>
                        </p:par>
                      </p:childTnLst>
                    </p:cTn>
                  </p:par>
                  <p:par>
                    <p:cTn id="41" fill="hold">
                      <p:stCondLst>
                        <p:cond delay="indefinite"/>
                      </p:stCondLst>
                      <p:childTnLst>
                        <p:par>
                          <p:cTn id="42" fill="hold">
                            <p:stCondLst>
                              <p:cond delay="0"/>
                            </p:stCondLst>
                            <p:childTnLst>
                              <p:par>
                                <p:cTn id="43" presetID="26" presetClass="emph" presetSubtype="0" fill="hold" nodeType="clickEffect">
                                  <p:stCondLst>
                                    <p:cond delay="0"/>
                                  </p:stCondLst>
                                  <p:childTnLst>
                                    <p:animEffect transition="out" filter="fade">
                                      <p:cBhvr>
                                        <p:cTn id="44" dur="500" tmFilter="0, 0; .2, .5; .8, .5; 1, 0"/>
                                        <p:tgtEl>
                                          <p:spTgt spid="4"/>
                                        </p:tgtEl>
                                      </p:cBhvr>
                                    </p:animEffect>
                                    <p:animScale>
                                      <p:cBhvr>
                                        <p:cTn id="45" dur="250" autoRev="1" fill="hold"/>
                                        <p:tgtEl>
                                          <p:spTgt spid="4"/>
                                        </p:tgtEl>
                                      </p:cBhvr>
                                      <p:by x="105000" y="105000"/>
                                    </p:animScale>
                                  </p:childTnLst>
                                </p:cTn>
                              </p:par>
                            </p:childTnLst>
                          </p:cTn>
                        </p:par>
                      </p:childTnLst>
                    </p:cTn>
                  </p:par>
                  <p:par>
                    <p:cTn id="46" fill="hold">
                      <p:stCondLst>
                        <p:cond delay="indefinite"/>
                      </p:stCondLst>
                      <p:childTnLst>
                        <p:par>
                          <p:cTn id="47" fill="hold">
                            <p:stCondLst>
                              <p:cond delay="0"/>
                            </p:stCondLst>
                            <p:childTnLst>
                              <p:par>
                                <p:cTn id="48" presetID="42" presetClass="entr" presetSubtype="0" fill="hold" nodeType="clickEffect">
                                  <p:stCondLst>
                                    <p:cond delay="0"/>
                                  </p:stCondLst>
                                  <p:childTnLst>
                                    <p:set>
                                      <p:cBhvr>
                                        <p:cTn id="49" dur="1" fill="hold">
                                          <p:stCondLst>
                                            <p:cond delay="0"/>
                                          </p:stCondLst>
                                        </p:cTn>
                                        <p:tgtEl>
                                          <p:spTgt spid="7">
                                            <p:txEl>
                                              <p:pRg st="0" end="0"/>
                                            </p:txEl>
                                          </p:spTgt>
                                        </p:tgtEl>
                                        <p:attrNameLst>
                                          <p:attrName>style.visibility</p:attrName>
                                        </p:attrNameLst>
                                      </p:cBhvr>
                                      <p:to>
                                        <p:strVal val="visible"/>
                                      </p:to>
                                    </p:set>
                                    <p:animEffect transition="in" filter="fade">
                                      <p:cBhvr>
                                        <p:cTn id="50" dur="1000"/>
                                        <p:tgtEl>
                                          <p:spTgt spid="7">
                                            <p:txEl>
                                              <p:pRg st="0" end="0"/>
                                            </p:txEl>
                                          </p:spTgt>
                                        </p:tgtEl>
                                      </p:cBhvr>
                                    </p:animEffect>
                                    <p:anim calcmode="lin" valueType="num">
                                      <p:cBhvr>
                                        <p:cTn id="51"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52"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26" presetClass="emph" presetSubtype="0" fill="hold" grpId="0" nodeType="clickEffect">
                                  <p:stCondLst>
                                    <p:cond delay="0"/>
                                  </p:stCondLst>
                                  <p:childTnLst>
                                    <p:animEffect transition="out" filter="fade">
                                      <p:cBhvr>
                                        <p:cTn id="56" dur="500" tmFilter="0, 0; .2, .5; .8, .5; 1, 0"/>
                                        <p:tgtEl>
                                          <p:spTgt spid="12"/>
                                        </p:tgtEl>
                                      </p:cBhvr>
                                    </p:animEffect>
                                    <p:animScale>
                                      <p:cBhvr>
                                        <p:cTn id="57" dur="250" autoRev="1" fill="hold"/>
                                        <p:tgtEl>
                                          <p:spTgt spid="12"/>
                                        </p:tgtEl>
                                      </p:cBhvr>
                                      <p:by x="105000" y="105000"/>
                                    </p:animScale>
                                  </p:childTnLst>
                                </p:cTn>
                              </p:par>
                            </p:childTnLst>
                          </p:cTn>
                        </p:par>
                      </p:childTnLst>
                    </p:cTn>
                  </p:par>
                  <p:par>
                    <p:cTn id="58" fill="hold">
                      <p:stCondLst>
                        <p:cond delay="indefinite"/>
                      </p:stCondLst>
                      <p:childTnLst>
                        <p:par>
                          <p:cTn id="59" fill="hold">
                            <p:stCondLst>
                              <p:cond delay="0"/>
                            </p:stCondLst>
                            <p:childTnLst>
                              <p:par>
                                <p:cTn id="60" presetID="26" presetClass="emph" presetSubtype="0" fill="hold" nodeType="clickEffect">
                                  <p:stCondLst>
                                    <p:cond delay="0"/>
                                  </p:stCondLst>
                                  <p:childTnLst>
                                    <p:animEffect transition="out" filter="fade">
                                      <p:cBhvr>
                                        <p:cTn id="61" dur="500" tmFilter="0, 0; .2, .5; .8, .5; 1, 0"/>
                                        <p:tgtEl>
                                          <p:spTgt spid="8"/>
                                        </p:tgtEl>
                                      </p:cBhvr>
                                    </p:animEffect>
                                    <p:animScale>
                                      <p:cBhvr>
                                        <p:cTn id="62" dur="250" autoRev="1" fill="hold"/>
                                        <p:tgtEl>
                                          <p:spTgt spid="8"/>
                                        </p:tgtEl>
                                      </p:cBhvr>
                                      <p:by x="105000" y="105000"/>
                                    </p:animScale>
                                  </p:childTnLst>
                                </p:cTn>
                              </p:par>
                            </p:childTnLst>
                          </p:cTn>
                        </p:par>
                      </p:childTnLst>
                    </p:cTn>
                  </p:par>
                  <p:par>
                    <p:cTn id="63" fill="hold">
                      <p:stCondLst>
                        <p:cond delay="indefinite"/>
                      </p:stCondLst>
                      <p:childTnLst>
                        <p:par>
                          <p:cTn id="64" fill="hold">
                            <p:stCondLst>
                              <p:cond delay="0"/>
                            </p:stCondLst>
                            <p:childTnLst>
                              <p:par>
                                <p:cTn id="65" presetID="42" presetClass="entr" presetSubtype="0" fill="hold" grpId="0" nodeType="clickEffect">
                                  <p:stCondLst>
                                    <p:cond delay="0"/>
                                  </p:stCondLst>
                                  <p:childTnLst>
                                    <p:set>
                                      <p:cBhvr>
                                        <p:cTn id="66" dur="1" fill="hold">
                                          <p:stCondLst>
                                            <p:cond delay="0"/>
                                          </p:stCondLst>
                                        </p:cTn>
                                        <p:tgtEl>
                                          <p:spTgt spid="14"/>
                                        </p:tgtEl>
                                        <p:attrNameLst>
                                          <p:attrName>style.visibility</p:attrName>
                                        </p:attrNameLst>
                                      </p:cBhvr>
                                      <p:to>
                                        <p:strVal val="visible"/>
                                      </p:to>
                                    </p:set>
                                    <p:animEffect transition="in" filter="fade">
                                      <p:cBhvr>
                                        <p:cTn id="67" dur="1000"/>
                                        <p:tgtEl>
                                          <p:spTgt spid="14"/>
                                        </p:tgtEl>
                                      </p:cBhvr>
                                    </p:animEffect>
                                    <p:anim calcmode="lin" valueType="num">
                                      <p:cBhvr>
                                        <p:cTn id="68" dur="1000" fill="hold"/>
                                        <p:tgtEl>
                                          <p:spTgt spid="14"/>
                                        </p:tgtEl>
                                        <p:attrNameLst>
                                          <p:attrName>ppt_x</p:attrName>
                                        </p:attrNameLst>
                                      </p:cBhvr>
                                      <p:tavLst>
                                        <p:tav tm="0">
                                          <p:val>
                                            <p:strVal val="#ppt_x"/>
                                          </p:val>
                                        </p:tav>
                                        <p:tav tm="100000">
                                          <p:val>
                                            <p:strVal val="#ppt_x"/>
                                          </p:val>
                                        </p:tav>
                                      </p:tavLst>
                                    </p:anim>
                                    <p:anim calcmode="lin" valueType="num">
                                      <p:cBhvr>
                                        <p:cTn id="69"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1" grpId="0"/>
      <p:bldP spid="12" grpId="0"/>
      <p:bldP spid="14"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1046946" y="0"/>
            <a:ext cx="10058400" cy="3566160"/>
          </a:xfrm>
        </p:spPr>
        <p:txBody>
          <a:bodyPr/>
          <a:lstStyle/>
          <a:p>
            <a:r>
              <a:rPr lang="es-ES" dirty="0"/>
              <a:t>SIMULACION</a:t>
            </a:r>
          </a:p>
        </p:txBody>
      </p:sp>
    </p:spTree>
    <p:extLst>
      <p:ext uri="{BB962C8B-B14F-4D97-AF65-F5344CB8AC3E}">
        <p14:creationId xmlns:p14="http://schemas.microsoft.com/office/powerpoint/2010/main" val="318076389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p:cNvPicPr>
            <a:picLocks noChangeAspect="1"/>
          </p:cNvPicPr>
          <p:nvPr/>
        </p:nvPicPr>
        <p:blipFill>
          <a:blip r:embed="rId2"/>
          <a:stretch>
            <a:fillRect/>
          </a:stretch>
        </p:blipFill>
        <p:spPr>
          <a:xfrm>
            <a:off x="2054832" y="1301049"/>
            <a:ext cx="7600897" cy="4677208"/>
          </a:xfrm>
          <a:prstGeom prst="rect">
            <a:avLst/>
          </a:prstGeom>
        </p:spPr>
      </p:pic>
      <p:sp>
        <p:nvSpPr>
          <p:cNvPr id="3" name="CuadroTexto 2"/>
          <p:cNvSpPr txBox="1"/>
          <p:nvPr/>
        </p:nvSpPr>
        <p:spPr>
          <a:xfrm>
            <a:off x="847288" y="780661"/>
            <a:ext cx="3246539" cy="523220"/>
          </a:xfrm>
          <a:prstGeom prst="rect">
            <a:avLst/>
          </a:prstGeom>
          <a:noFill/>
        </p:spPr>
        <p:txBody>
          <a:bodyPr wrap="square" rtlCol="0">
            <a:spAutoFit/>
          </a:bodyPr>
          <a:lstStyle/>
          <a:p>
            <a:r>
              <a:rPr lang="es-ES" sz="2800" b="1" dirty="0"/>
              <a:t>Modelo visual</a:t>
            </a:r>
          </a:p>
        </p:txBody>
      </p:sp>
    </p:spTree>
    <p:extLst>
      <p:ext uri="{BB962C8B-B14F-4D97-AF65-F5344CB8AC3E}">
        <p14:creationId xmlns:p14="http://schemas.microsoft.com/office/powerpoint/2010/main" val="1961940064"/>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3"/>
                                        </p:tgtEl>
                                      </p:cBhvr>
                                    </p:animEffect>
                                    <p:animScale>
                                      <p:cBhvr>
                                        <p:cTn id="7" dur="250" autoRev="1" fill="hold"/>
                                        <p:tgtEl>
                                          <p:spTgt spid="3"/>
                                        </p:tgtEl>
                                      </p:cBhvr>
                                      <p:by x="105000" y="105000"/>
                                    </p:animScale>
                                  </p:childTnLst>
                                </p:cTn>
                              </p:par>
                            </p:childTnLst>
                          </p:cTn>
                        </p:par>
                      </p:childTnLst>
                    </p:cTn>
                  </p:par>
                  <p:par>
                    <p:cTn id="8" fill="hold">
                      <p:stCondLst>
                        <p:cond delay="indefinite"/>
                      </p:stCondLst>
                      <p:childTnLst>
                        <p:par>
                          <p:cTn id="9" fill="hold">
                            <p:stCondLst>
                              <p:cond delay="0"/>
                            </p:stCondLst>
                            <p:childTnLst>
                              <p:par>
                                <p:cTn id="10" presetID="27" presetClass="emph" presetSubtype="0" fill="remove" nodeType="clickEffect">
                                  <p:stCondLst>
                                    <p:cond delay="0"/>
                                  </p:stCondLst>
                                  <p:childTnLst>
                                    <p:animClr clrSpc="rgb" dir="cw">
                                      <p:cBhvr override="childStyle">
                                        <p:cTn id="11" dur="250" autoRev="1" fill="remove"/>
                                        <p:tgtEl>
                                          <p:spTgt spid="2"/>
                                        </p:tgtEl>
                                        <p:attrNameLst>
                                          <p:attrName>style.color</p:attrName>
                                        </p:attrNameLst>
                                      </p:cBhvr>
                                      <p:to>
                                        <a:schemeClr val="bg1"/>
                                      </p:to>
                                    </p:animClr>
                                    <p:animClr clrSpc="rgb" dir="cw">
                                      <p:cBhvr>
                                        <p:cTn id="12" dur="250" autoRev="1" fill="remove"/>
                                        <p:tgtEl>
                                          <p:spTgt spid="2"/>
                                        </p:tgtEl>
                                        <p:attrNameLst>
                                          <p:attrName>fillcolor</p:attrName>
                                        </p:attrNameLst>
                                      </p:cBhvr>
                                      <p:to>
                                        <a:schemeClr val="bg1"/>
                                      </p:to>
                                    </p:animClr>
                                    <p:set>
                                      <p:cBhvr>
                                        <p:cTn id="13" dur="250" autoRev="1" fill="remove"/>
                                        <p:tgtEl>
                                          <p:spTgt spid="2"/>
                                        </p:tgtEl>
                                        <p:attrNameLst>
                                          <p:attrName>fill.type</p:attrName>
                                        </p:attrNameLst>
                                      </p:cBhvr>
                                      <p:to>
                                        <p:strVal val="solid"/>
                                      </p:to>
                                    </p:set>
                                    <p:set>
                                      <p:cBhvr>
                                        <p:cTn id="14" dur="250" autoRev="1" fill="remove"/>
                                        <p:tgtEl>
                                          <p:spTgt spid="2"/>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p:cNvPicPr>
            <a:picLocks noChangeAspect="1"/>
          </p:cNvPicPr>
          <p:nvPr/>
        </p:nvPicPr>
        <p:blipFill>
          <a:blip r:embed="rId4"/>
          <a:stretch>
            <a:fillRect/>
          </a:stretch>
        </p:blipFill>
        <p:spPr>
          <a:xfrm>
            <a:off x="825367" y="1154001"/>
            <a:ext cx="6058746" cy="1428949"/>
          </a:xfrm>
          <a:prstGeom prst="rect">
            <a:avLst/>
          </a:prstGeom>
        </p:spPr>
      </p:pic>
      <p:sp>
        <p:nvSpPr>
          <p:cNvPr id="5" name="CuadroTexto 4"/>
          <p:cNvSpPr txBox="1"/>
          <p:nvPr/>
        </p:nvSpPr>
        <p:spPr>
          <a:xfrm>
            <a:off x="1182848" y="692336"/>
            <a:ext cx="5964573" cy="461665"/>
          </a:xfrm>
          <a:prstGeom prst="rect">
            <a:avLst/>
          </a:prstGeom>
          <a:noFill/>
        </p:spPr>
        <p:txBody>
          <a:bodyPr wrap="square" rtlCol="0">
            <a:spAutoFit/>
          </a:bodyPr>
          <a:lstStyle/>
          <a:p>
            <a:r>
              <a:rPr lang="es-ES" sz="2400" dirty="0"/>
              <a:t>Datos de entrada</a:t>
            </a:r>
          </a:p>
        </p:txBody>
      </p:sp>
      <p:sp>
        <p:nvSpPr>
          <p:cNvPr id="6" name="CuadroTexto 5"/>
          <p:cNvSpPr txBox="1"/>
          <p:nvPr/>
        </p:nvSpPr>
        <p:spPr>
          <a:xfrm>
            <a:off x="1085426" y="4083928"/>
            <a:ext cx="5964573" cy="461665"/>
          </a:xfrm>
          <a:prstGeom prst="rect">
            <a:avLst/>
          </a:prstGeom>
          <a:noFill/>
        </p:spPr>
        <p:txBody>
          <a:bodyPr wrap="square" rtlCol="0">
            <a:spAutoFit/>
          </a:bodyPr>
          <a:lstStyle/>
          <a:p>
            <a:r>
              <a:rPr lang="es-ES" sz="2400" dirty="0"/>
              <a:t>Datos en tiempo real</a:t>
            </a:r>
          </a:p>
        </p:txBody>
      </p:sp>
      <p:pic>
        <p:nvPicPr>
          <p:cNvPr id="10" name="Mi video-1">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713664" y="2808141"/>
            <a:ext cx="5629962" cy="3166854"/>
          </a:xfrm>
          <a:prstGeom prst="rect">
            <a:avLst/>
          </a:prstGeom>
        </p:spPr>
      </p:pic>
    </p:spTree>
    <p:extLst>
      <p:ext uri="{BB962C8B-B14F-4D97-AF65-F5344CB8AC3E}">
        <p14:creationId xmlns:p14="http://schemas.microsoft.com/office/powerpoint/2010/main" val="3186031466"/>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childTnLst>
                          </p:cTn>
                        </p:par>
                      </p:childTnLst>
                    </p:cTn>
                  </p:par>
                  <p:par>
                    <p:cTn id="10" fill="hold">
                      <p:stCondLst>
                        <p:cond delay="indefinite"/>
                      </p:stCondLst>
                      <p:childTnLst>
                        <p:par>
                          <p:cTn id="11" fill="hold">
                            <p:stCondLst>
                              <p:cond delay="0"/>
                            </p:stCondLst>
                            <p:childTnLst>
                              <p:par>
                                <p:cTn id="12" presetID="26" presetClass="emph" presetSubtype="0" fill="hold" nodeType="clickEffect">
                                  <p:stCondLst>
                                    <p:cond delay="0"/>
                                  </p:stCondLst>
                                  <p:childTnLst>
                                    <p:animEffect transition="out" filter="fade">
                                      <p:cBhvr>
                                        <p:cTn id="13" dur="500" tmFilter="0, 0; .2, .5; .8, .5; 1, 0"/>
                                        <p:tgtEl>
                                          <p:spTgt spid="2"/>
                                        </p:tgtEl>
                                      </p:cBhvr>
                                    </p:animEffect>
                                    <p:animScale>
                                      <p:cBhvr>
                                        <p:cTn id="14" dur="250" autoRev="1" fill="hold"/>
                                        <p:tgtEl>
                                          <p:spTgt spid="2"/>
                                        </p:tgtEl>
                                      </p:cBhvr>
                                      <p:by x="105000" y="105000"/>
                                    </p:animScale>
                                  </p:childTnLst>
                                </p:cTn>
                              </p:par>
                            </p:childTnLst>
                          </p:cTn>
                        </p:par>
                      </p:childTnLst>
                    </p:cTn>
                  </p:par>
                  <p:par>
                    <p:cTn id="15" fill="hold">
                      <p:stCondLst>
                        <p:cond delay="indefinite"/>
                      </p:stCondLst>
                      <p:childTnLst>
                        <p:par>
                          <p:cTn id="16" fill="hold">
                            <p:stCondLst>
                              <p:cond delay="0"/>
                            </p:stCondLst>
                            <p:childTnLst>
                              <p:par>
                                <p:cTn id="17" presetID="53" presetClass="entr" presetSubtype="16"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p:cTn id="19" dur="500" fill="hold"/>
                                        <p:tgtEl>
                                          <p:spTgt spid="6"/>
                                        </p:tgtEl>
                                        <p:attrNameLst>
                                          <p:attrName>ppt_w</p:attrName>
                                        </p:attrNameLst>
                                      </p:cBhvr>
                                      <p:tavLst>
                                        <p:tav tm="0">
                                          <p:val>
                                            <p:fltVal val="0"/>
                                          </p:val>
                                        </p:tav>
                                        <p:tav tm="100000">
                                          <p:val>
                                            <p:strVal val="#ppt_w"/>
                                          </p:val>
                                        </p:tav>
                                      </p:tavLst>
                                    </p:anim>
                                    <p:anim calcmode="lin" valueType="num">
                                      <p:cBhvr>
                                        <p:cTn id="20" dur="500" fill="hold"/>
                                        <p:tgtEl>
                                          <p:spTgt spid="6"/>
                                        </p:tgtEl>
                                        <p:attrNameLst>
                                          <p:attrName>ppt_h</p:attrName>
                                        </p:attrNameLst>
                                      </p:cBhvr>
                                      <p:tavLst>
                                        <p:tav tm="0">
                                          <p:val>
                                            <p:fltVal val="0"/>
                                          </p:val>
                                        </p:tav>
                                        <p:tav tm="100000">
                                          <p:val>
                                            <p:strVal val="#ppt_h"/>
                                          </p:val>
                                        </p:tav>
                                      </p:tavLst>
                                    </p:anim>
                                    <p:animEffect transition="in" filter="fade">
                                      <p:cBhvr>
                                        <p:cTn id="21" dur="500"/>
                                        <p:tgtEl>
                                          <p:spTgt spid="6"/>
                                        </p:tgtEl>
                                      </p:cBhvr>
                                    </p:animEffect>
                                  </p:childTnLst>
                                </p:cTn>
                              </p:par>
                            </p:childTnLst>
                          </p:cTn>
                        </p:par>
                      </p:childTnLst>
                    </p:cTn>
                  </p:par>
                  <p:par>
                    <p:cTn id="22" fill="hold">
                      <p:stCondLst>
                        <p:cond delay="indefinite"/>
                      </p:stCondLst>
                      <p:childTnLst>
                        <p:par>
                          <p:cTn id="23" fill="hold">
                            <p:stCondLst>
                              <p:cond delay="0"/>
                            </p:stCondLst>
                            <p:childTnLst>
                              <p:par>
                                <p:cTn id="24" presetID="26" presetClass="emph" presetSubtype="0" fill="hold" nodeType="clickEffect">
                                  <p:stCondLst>
                                    <p:cond delay="0"/>
                                  </p:stCondLst>
                                  <p:childTnLst>
                                    <p:animEffect transition="out" filter="fade">
                                      <p:cBhvr>
                                        <p:cTn id="25" dur="500" tmFilter="0, 0; .2, .5; .8, .5; 1, 0"/>
                                        <p:tgtEl>
                                          <p:spTgt spid="10"/>
                                        </p:tgtEl>
                                      </p:cBhvr>
                                    </p:animEffect>
                                    <p:animScale>
                                      <p:cBhvr>
                                        <p:cTn id="26" dur="250" autoRev="1" fill="hold"/>
                                        <p:tgtEl>
                                          <p:spTgt spid="10"/>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video>
              <p:cMediaNode vol="80000">
                <p:cTn id="27" fill="hold" display="0">
                  <p:stCondLst>
                    <p:cond delay="indefinite"/>
                  </p:stCondLst>
                </p:cTn>
                <p:tgtEl>
                  <p:spTgt spid="10"/>
                </p:tgtEl>
              </p:cMediaNode>
            </p:video>
          </p:childTnLst>
        </p:cTn>
      </p:par>
    </p:tnLst>
    <p:bldLst>
      <p:bldP spid="5" grpId="0"/>
      <p:bldP spid="6"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p:cNvSpPr txBox="1"/>
          <p:nvPr/>
        </p:nvSpPr>
        <p:spPr>
          <a:xfrm>
            <a:off x="612396" y="763128"/>
            <a:ext cx="7055142" cy="738664"/>
          </a:xfrm>
          <a:prstGeom prst="rect">
            <a:avLst/>
          </a:prstGeom>
          <a:noFill/>
        </p:spPr>
        <p:txBody>
          <a:bodyPr wrap="square" rtlCol="0">
            <a:spAutoFit/>
          </a:bodyPr>
          <a:lstStyle/>
          <a:p>
            <a:r>
              <a:rPr lang="es-ES" sz="2400" b="1" dirty="0"/>
              <a:t>Gráficos en tiempo real</a:t>
            </a:r>
          </a:p>
          <a:p>
            <a:endParaRPr lang="es-ES" dirty="0"/>
          </a:p>
        </p:txBody>
      </p:sp>
      <p:pic>
        <p:nvPicPr>
          <p:cNvPr id="9" name="Imagen 8"/>
          <p:cNvPicPr>
            <a:picLocks noChangeAspect="1"/>
          </p:cNvPicPr>
          <p:nvPr/>
        </p:nvPicPr>
        <p:blipFill>
          <a:blip r:embed="rId2"/>
          <a:stretch>
            <a:fillRect/>
          </a:stretch>
        </p:blipFill>
        <p:spPr>
          <a:xfrm>
            <a:off x="740243" y="1376174"/>
            <a:ext cx="3548036" cy="2645993"/>
          </a:xfrm>
          <a:prstGeom prst="rect">
            <a:avLst/>
          </a:prstGeom>
        </p:spPr>
      </p:pic>
      <p:pic>
        <p:nvPicPr>
          <p:cNvPr id="10" name="Imagen 9"/>
          <p:cNvPicPr>
            <a:picLocks noChangeAspect="1"/>
          </p:cNvPicPr>
          <p:nvPr/>
        </p:nvPicPr>
        <p:blipFill>
          <a:blip r:embed="rId3"/>
          <a:stretch>
            <a:fillRect/>
          </a:stretch>
        </p:blipFill>
        <p:spPr>
          <a:xfrm>
            <a:off x="4288279" y="2366074"/>
            <a:ext cx="3622857" cy="2645993"/>
          </a:xfrm>
          <a:prstGeom prst="rect">
            <a:avLst/>
          </a:prstGeom>
        </p:spPr>
      </p:pic>
      <p:pic>
        <p:nvPicPr>
          <p:cNvPr id="11" name="Imagen 10"/>
          <p:cNvPicPr>
            <a:picLocks noChangeAspect="1"/>
          </p:cNvPicPr>
          <p:nvPr/>
        </p:nvPicPr>
        <p:blipFill>
          <a:blip r:embed="rId4"/>
          <a:stretch>
            <a:fillRect/>
          </a:stretch>
        </p:blipFill>
        <p:spPr>
          <a:xfrm>
            <a:off x="7911136" y="3465033"/>
            <a:ext cx="3609562" cy="2645993"/>
          </a:xfrm>
          <a:prstGeom prst="rect">
            <a:avLst/>
          </a:prstGeom>
        </p:spPr>
      </p:pic>
    </p:spTree>
    <p:extLst>
      <p:ext uri="{BB962C8B-B14F-4D97-AF65-F5344CB8AC3E}">
        <p14:creationId xmlns:p14="http://schemas.microsoft.com/office/powerpoint/2010/main" val="853816070"/>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26" presetClass="emph" presetSubtype="0" fill="hold" nodeType="clickEffect">
                                  <p:stCondLst>
                                    <p:cond delay="0"/>
                                  </p:stCondLst>
                                  <p:childTnLst>
                                    <p:animEffect transition="out" filter="fade">
                                      <p:cBhvr>
                                        <p:cTn id="13" dur="500" tmFilter="0, 0; .2, .5; .8, .5; 1, 0"/>
                                        <p:tgtEl>
                                          <p:spTgt spid="9"/>
                                        </p:tgtEl>
                                      </p:cBhvr>
                                    </p:animEffect>
                                    <p:animScale>
                                      <p:cBhvr>
                                        <p:cTn id="14" dur="250" autoRev="1" fill="hold"/>
                                        <p:tgtEl>
                                          <p:spTgt spid="9"/>
                                        </p:tgtEl>
                                      </p:cBhvr>
                                      <p:by x="105000" y="105000"/>
                                    </p:animScale>
                                  </p:childTnLst>
                                </p:cTn>
                              </p:par>
                            </p:childTnLst>
                          </p:cTn>
                        </p:par>
                      </p:childTnLst>
                    </p:cTn>
                  </p:par>
                  <p:par>
                    <p:cTn id="15" fill="hold">
                      <p:stCondLst>
                        <p:cond delay="indefinite"/>
                      </p:stCondLst>
                      <p:childTnLst>
                        <p:par>
                          <p:cTn id="16" fill="hold">
                            <p:stCondLst>
                              <p:cond delay="0"/>
                            </p:stCondLst>
                            <p:childTnLst>
                              <p:par>
                                <p:cTn id="17" presetID="26" presetClass="emph" presetSubtype="0" fill="hold" nodeType="clickEffect">
                                  <p:stCondLst>
                                    <p:cond delay="0"/>
                                  </p:stCondLst>
                                  <p:childTnLst>
                                    <p:animEffect transition="out" filter="fade">
                                      <p:cBhvr>
                                        <p:cTn id="18" dur="500" tmFilter="0, 0; .2, .5; .8, .5; 1, 0"/>
                                        <p:tgtEl>
                                          <p:spTgt spid="10"/>
                                        </p:tgtEl>
                                      </p:cBhvr>
                                    </p:animEffect>
                                    <p:animScale>
                                      <p:cBhvr>
                                        <p:cTn id="19" dur="250" autoRev="1" fill="hold"/>
                                        <p:tgtEl>
                                          <p:spTgt spid="10"/>
                                        </p:tgtEl>
                                      </p:cBhvr>
                                      <p:by x="105000" y="105000"/>
                                    </p:animScale>
                                  </p:childTnLst>
                                </p:cTn>
                              </p:par>
                            </p:childTnLst>
                          </p:cTn>
                        </p:par>
                      </p:childTnLst>
                    </p:cTn>
                  </p:par>
                  <p:par>
                    <p:cTn id="20" fill="hold">
                      <p:stCondLst>
                        <p:cond delay="indefinite"/>
                      </p:stCondLst>
                      <p:childTnLst>
                        <p:par>
                          <p:cTn id="21" fill="hold">
                            <p:stCondLst>
                              <p:cond delay="0"/>
                            </p:stCondLst>
                            <p:childTnLst>
                              <p:par>
                                <p:cTn id="22" presetID="26" presetClass="emph" presetSubtype="0" fill="hold" nodeType="clickEffect">
                                  <p:stCondLst>
                                    <p:cond delay="0"/>
                                  </p:stCondLst>
                                  <p:childTnLst>
                                    <p:animEffect transition="out" filter="fade">
                                      <p:cBhvr>
                                        <p:cTn id="23" dur="500" tmFilter="0, 0; .2, .5; .8, .5; 1, 0"/>
                                        <p:tgtEl>
                                          <p:spTgt spid="11"/>
                                        </p:tgtEl>
                                      </p:cBhvr>
                                    </p:animEffect>
                                    <p:animScale>
                                      <p:cBhvr>
                                        <p:cTn id="24" dur="250" autoRev="1" fill="hold"/>
                                        <p:tgtEl>
                                          <p:spTgt spid="11"/>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p:cNvPicPr>
            <a:picLocks noChangeAspect="1"/>
          </p:cNvPicPr>
          <p:nvPr/>
        </p:nvPicPr>
        <p:blipFill>
          <a:blip r:embed="rId2"/>
          <a:stretch>
            <a:fillRect/>
          </a:stretch>
        </p:blipFill>
        <p:spPr>
          <a:xfrm>
            <a:off x="796954" y="2306567"/>
            <a:ext cx="10694989" cy="2590251"/>
          </a:xfrm>
          <a:prstGeom prst="rect">
            <a:avLst/>
          </a:prstGeom>
        </p:spPr>
      </p:pic>
      <p:sp>
        <p:nvSpPr>
          <p:cNvPr id="4" name="CuadroTexto 3"/>
          <p:cNvSpPr txBox="1"/>
          <p:nvPr/>
        </p:nvSpPr>
        <p:spPr>
          <a:xfrm>
            <a:off x="738231" y="972853"/>
            <a:ext cx="7055142" cy="738664"/>
          </a:xfrm>
          <a:prstGeom prst="rect">
            <a:avLst/>
          </a:prstGeom>
          <a:noFill/>
        </p:spPr>
        <p:txBody>
          <a:bodyPr wrap="square" rtlCol="0">
            <a:spAutoFit/>
          </a:bodyPr>
          <a:lstStyle/>
          <a:p>
            <a:r>
              <a:rPr lang="es-ES" sz="2400" b="1" dirty="0"/>
              <a:t>Gráfico en tiempo real de todos los datos</a:t>
            </a:r>
          </a:p>
          <a:p>
            <a:endParaRPr lang="es-ES" dirty="0"/>
          </a:p>
        </p:txBody>
      </p:sp>
    </p:spTree>
    <p:extLst>
      <p:ext uri="{BB962C8B-B14F-4D97-AF65-F5344CB8AC3E}">
        <p14:creationId xmlns:p14="http://schemas.microsoft.com/office/powerpoint/2010/main" val="57147069"/>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6" presetClass="emph" presetSubtype="0" fill="hold" nodeType="clickEffect">
                                  <p:stCondLst>
                                    <p:cond delay="0"/>
                                  </p:stCondLst>
                                  <p:childTnLst>
                                    <p:animEffect transition="out" filter="fade">
                                      <p:cBhvr>
                                        <p:cTn id="13" dur="500" tmFilter="0, 0; .2, .5; .8, .5; 1, 0"/>
                                        <p:tgtEl>
                                          <p:spTgt spid="3"/>
                                        </p:tgtEl>
                                      </p:cBhvr>
                                    </p:animEffect>
                                    <p:animScale>
                                      <p:cBhvr>
                                        <p:cTn id="14" dur="250" autoRev="1" fill="hold"/>
                                        <p:tgtEl>
                                          <p:spTgt spid="3"/>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620785" y="771787"/>
            <a:ext cx="5360565" cy="461665"/>
          </a:xfrm>
          <a:prstGeom prst="rect">
            <a:avLst/>
          </a:prstGeom>
          <a:noFill/>
        </p:spPr>
        <p:txBody>
          <a:bodyPr wrap="square" rtlCol="0">
            <a:spAutoFit/>
          </a:bodyPr>
          <a:lstStyle/>
          <a:p>
            <a:r>
              <a:rPr lang="es-ES" sz="2400" b="1" dirty="0"/>
              <a:t>Simulación en Python</a:t>
            </a:r>
          </a:p>
        </p:txBody>
      </p:sp>
      <p:pic>
        <p:nvPicPr>
          <p:cNvPr id="3" name="copia">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1593908" y="1241262"/>
            <a:ext cx="8330268" cy="4685776"/>
          </a:xfrm>
          <a:prstGeom prst="rect">
            <a:avLst/>
          </a:prstGeom>
        </p:spPr>
      </p:pic>
    </p:spTree>
    <p:extLst>
      <p:ext uri="{BB962C8B-B14F-4D97-AF65-F5344CB8AC3E}">
        <p14:creationId xmlns:p14="http://schemas.microsoft.com/office/powerpoint/2010/main" val="1916700622"/>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6" presetClass="emph" presetSubtype="0" fill="hold" nodeType="clickEffect">
                                  <p:stCondLst>
                                    <p:cond delay="0"/>
                                  </p:stCondLst>
                                  <p:childTnLst>
                                    <p:animEffect transition="out" filter="fade">
                                      <p:cBhvr>
                                        <p:cTn id="13" dur="500" tmFilter="0, 0; .2, .5; .8, .5; 1, 0"/>
                                        <p:tgtEl>
                                          <p:spTgt spid="3"/>
                                        </p:tgtEl>
                                      </p:cBhvr>
                                    </p:animEffect>
                                    <p:animScale>
                                      <p:cBhvr>
                                        <p:cTn id="14" dur="250" autoRev="1" fill="hold"/>
                                        <p:tgtEl>
                                          <p:spTgt spid="3"/>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video>
              <p:cMediaNode vol="80000">
                <p:cTn id="15" fill="hold" display="0">
                  <p:stCondLst>
                    <p:cond delay="indefinite"/>
                  </p:stCondLst>
                </p:cTn>
                <p:tgtEl>
                  <p:spTgt spid="3"/>
                </p:tgtEl>
              </p:cMediaNode>
            </p:video>
          </p:childTnLst>
        </p:cTn>
      </p:par>
    </p:tnLst>
    <p:bldLst>
      <p:bldP spid="2"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t>Simulación en </a:t>
            </a:r>
            <a:r>
              <a:rPr lang="es-ES" dirty="0" err="1"/>
              <a:t>War</a:t>
            </a:r>
            <a:r>
              <a:rPr lang="es-ES" dirty="0"/>
              <a:t> </a:t>
            </a:r>
            <a:r>
              <a:rPr lang="es-ES" dirty="0" err="1"/>
              <a:t>thunder</a:t>
            </a:r>
            <a:endParaRPr lang="es-ES" dirty="0"/>
          </a:p>
        </p:txBody>
      </p:sp>
      <p:sp>
        <p:nvSpPr>
          <p:cNvPr id="3" name="Marcador de contenido 2"/>
          <p:cNvSpPr>
            <a:spLocks noGrp="1"/>
          </p:cNvSpPr>
          <p:nvPr>
            <p:ph sz="half" idx="1"/>
          </p:nvPr>
        </p:nvSpPr>
        <p:spPr/>
        <p:txBody>
          <a:bodyPr/>
          <a:lstStyle/>
          <a:p>
            <a:r>
              <a:rPr lang="es-ES" dirty="0"/>
              <a:t>Modelo visual</a:t>
            </a:r>
          </a:p>
        </p:txBody>
      </p:sp>
      <p:sp>
        <p:nvSpPr>
          <p:cNvPr id="4" name="Marcador de contenido 3"/>
          <p:cNvSpPr>
            <a:spLocks noGrp="1"/>
          </p:cNvSpPr>
          <p:nvPr>
            <p:ph sz="half" idx="2"/>
          </p:nvPr>
        </p:nvSpPr>
        <p:spPr/>
        <p:txBody>
          <a:bodyPr/>
          <a:lstStyle/>
          <a:p>
            <a:r>
              <a:rPr lang="es-ES" dirty="0"/>
              <a:t>Datos</a:t>
            </a:r>
          </a:p>
        </p:txBody>
      </p:sp>
      <p:pic>
        <p:nvPicPr>
          <p:cNvPr id="5" name="Imagen 4"/>
          <p:cNvPicPr>
            <a:picLocks noChangeAspect="1"/>
          </p:cNvPicPr>
          <p:nvPr/>
        </p:nvPicPr>
        <p:blipFill>
          <a:blip r:embed="rId2"/>
          <a:stretch>
            <a:fillRect/>
          </a:stretch>
        </p:blipFill>
        <p:spPr>
          <a:xfrm>
            <a:off x="1295402" y="3171040"/>
            <a:ext cx="4705883" cy="2533474"/>
          </a:xfrm>
          <a:prstGeom prst="rect">
            <a:avLst/>
          </a:prstGeom>
        </p:spPr>
      </p:pic>
      <p:pic>
        <p:nvPicPr>
          <p:cNvPr id="6" name="Imagen 5"/>
          <p:cNvPicPr>
            <a:picLocks noChangeAspect="1"/>
          </p:cNvPicPr>
          <p:nvPr/>
        </p:nvPicPr>
        <p:blipFill>
          <a:blip r:embed="rId3"/>
          <a:stretch>
            <a:fillRect/>
          </a:stretch>
        </p:blipFill>
        <p:spPr>
          <a:xfrm>
            <a:off x="6477226" y="3078760"/>
            <a:ext cx="3029373" cy="2867425"/>
          </a:xfrm>
          <a:prstGeom prst="rect">
            <a:avLst/>
          </a:prstGeom>
        </p:spPr>
      </p:pic>
    </p:spTree>
    <p:extLst>
      <p:ext uri="{BB962C8B-B14F-4D97-AF65-F5344CB8AC3E}">
        <p14:creationId xmlns:p14="http://schemas.microsoft.com/office/powerpoint/2010/main" val="2372554170"/>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childTnLst>
                          </p:cTn>
                        </p:par>
                      </p:childTnLst>
                    </p:cTn>
                  </p:par>
                  <p:par>
                    <p:cTn id="10" fill="hold">
                      <p:stCondLst>
                        <p:cond delay="indefinite"/>
                      </p:stCondLst>
                      <p:childTnLst>
                        <p:par>
                          <p:cTn id="11" fill="hold">
                            <p:stCondLst>
                              <p:cond delay="0"/>
                            </p:stCondLst>
                            <p:childTnLst>
                              <p:par>
                                <p:cTn id="12" presetID="26" presetClass="emph" presetSubtype="0" fill="hold" grpId="0" nodeType="clickEffect">
                                  <p:stCondLst>
                                    <p:cond delay="0"/>
                                  </p:stCondLst>
                                  <p:childTnLst>
                                    <p:animEffect transition="out" filter="fade">
                                      <p:cBhvr>
                                        <p:cTn id="13" dur="500" tmFilter="0, 0; .2, .5; .8, .5; 1, 0"/>
                                        <p:tgtEl>
                                          <p:spTgt spid="3">
                                            <p:txEl>
                                              <p:pRg st="0" end="0"/>
                                            </p:txEl>
                                          </p:spTgt>
                                        </p:tgtEl>
                                      </p:cBhvr>
                                    </p:animEffect>
                                    <p:animScale>
                                      <p:cBhvr>
                                        <p:cTn id="14" dur="250" autoRev="1" fill="hold"/>
                                        <p:tgtEl>
                                          <p:spTgt spid="3">
                                            <p:txEl>
                                              <p:pRg st="0" end="0"/>
                                            </p:txEl>
                                          </p:spTgt>
                                        </p:tgtEl>
                                      </p:cBhvr>
                                      <p:by x="105000" y="105000"/>
                                    </p:animScale>
                                  </p:childTnLst>
                                </p:cTn>
                              </p:par>
                            </p:childTnLst>
                          </p:cTn>
                        </p:par>
                      </p:childTnLst>
                    </p:cTn>
                  </p:par>
                  <p:par>
                    <p:cTn id="15" fill="hold">
                      <p:stCondLst>
                        <p:cond delay="indefinite"/>
                      </p:stCondLst>
                      <p:childTnLst>
                        <p:par>
                          <p:cTn id="16" fill="hold">
                            <p:stCondLst>
                              <p:cond delay="0"/>
                            </p:stCondLst>
                            <p:childTnLst>
                              <p:par>
                                <p:cTn id="17" presetID="26" presetClass="emph" presetSubtype="0" fill="hold" nodeType="clickEffect">
                                  <p:stCondLst>
                                    <p:cond delay="0"/>
                                  </p:stCondLst>
                                  <p:childTnLst>
                                    <p:animEffect transition="out" filter="fade">
                                      <p:cBhvr>
                                        <p:cTn id="18" dur="500" tmFilter="0, 0; .2, .5; .8, .5; 1, 0"/>
                                        <p:tgtEl>
                                          <p:spTgt spid="5"/>
                                        </p:tgtEl>
                                      </p:cBhvr>
                                    </p:animEffect>
                                    <p:animScale>
                                      <p:cBhvr>
                                        <p:cTn id="19" dur="250" autoRev="1" fill="hold"/>
                                        <p:tgtEl>
                                          <p:spTgt spid="5"/>
                                        </p:tgtEl>
                                      </p:cBhvr>
                                      <p:by x="105000" y="105000"/>
                                    </p:animScale>
                                  </p:childTnLst>
                                </p:cTn>
                              </p:par>
                            </p:childTnLst>
                          </p:cTn>
                        </p:par>
                      </p:childTnLst>
                    </p:cTn>
                  </p:par>
                  <p:par>
                    <p:cTn id="20" fill="hold">
                      <p:stCondLst>
                        <p:cond delay="indefinite"/>
                      </p:stCondLst>
                      <p:childTnLst>
                        <p:par>
                          <p:cTn id="21" fill="hold">
                            <p:stCondLst>
                              <p:cond delay="0"/>
                            </p:stCondLst>
                            <p:childTnLst>
                              <p:par>
                                <p:cTn id="22" presetID="26" presetClass="emph" presetSubtype="0" fill="hold" grpId="0" nodeType="clickEffect">
                                  <p:stCondLst>
                                    <p:cond delay="0"/>
                                  </p:stCondLst>
                                  <p:childTnLst>
                                    <p:animEffect transition="out" filter="fade">
                                      <p:cBhvr>
                                        <p:cTn id="23" dur="500" tmFilter="0, 0; .2, .5; .8, .5; 1, 0"/>
                                        <p:tgtEl>
                                          <p:spTgt spid="4">
                                            <p:txEl>
                                              <p:pRg st="0" end="0"/>
                                            </p:txEl>
                                          </p:spTgt>
                                        </p:tgtEl>
                                      </p:cBhvr>
                                    </p:animEffect>
                                    <p:animScale>
                                      <p:cBhvr>
                                        <p:cTn id="24" dur="250" autoRev="1" fill="hold"/>
                                        <p:tgtEl>
                                          <p:spTgt spid="4">
                                            <p:txEl>
                                              <p:pRg st="0" end="0"/>
                                            </p:txEl>
                                          </p:spTgt>
                                        </p:tgtEl>
                                      </p:cBhvr>
                                      <p:by x="105000" y="105000"/>
                                    </p:animScale>
                                  </p:childTnLst>
                                </p:cTn>
                              </p:par>
                            </p:childTnLst>
                          </p:cTn>
                        </p:par>
                      </p:childTnLst>
                    </p:cTn>
                  </p:par>
                  <p:par>
                    <p:cTn id="25" fill="hold">
                      <p:stCondLst>
                        <p:cond delay="indefinite"/>
                      </p:stCondLst>
                      <p:childTnLst>
                        <p:par>
                          <p:cTn id="26" fill="hold">
                            <p:stCondLst>
                              <p:cond delay="0"/>
                            </p:stCondLst>
                            <p:childTnLst>
                              <p:par>
                                <p:cTn id="27" presetID="26" presetClass="emph" presetSubtype="0" fill="hold" nodeType="clickEffect">
                                  <p:stCondLst>
                                    <p:cond delay="0"/>
                                  </p:stCondLst>
                                  <p:childTnLst>
                                    <p:animEffect transition="out" filter="fade">
                                      <p:cBhvr>
                                        <p:cTn id="28" dur="500" tmFilter="0, 0; .2, .5; .8, .5; 1, 0"/>
                                        <p:tgtEl>
                                          <p:spTgt spid="6"/>
                                        </p:tgtEl>
                                      </p:cBhvr>
                                    </p:animEffect>
                                    <p:animScale>
                                      <p:cBhvr>
                                        <p:cTn id="29" dur="250" autoRev="1" fill="hold"/>
                                        <p:tgtEl>
                                          <p:spTgt spid="6"/>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4"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7256477" y="792355"/>
            <a:ext cx="2172749" cy="461665"/>
          </a:xfrm>
          <a:prstGeom prst="rect">
            <a:avLst/>
          </a:prstGeom>
          <a:noFill/>
        </p:spPr>
        <p:txBody>
          <a:bodyPr wrap="square" rtlCol="0">
            <a:spAutoFit/>
          </a:bodyPr>
          <a:lstStyle/>
          <a:p>
            <a:r>
              <a:rPr lang="es-ES" sz="2400" dirty="0"/>
              <a:t>Simulación</a:t>
            </a:r>
            <a:endParaRPr lang="es-ES" dirty="0"/>
          </a:p>
        </p:txBody>
      </p:sp>
      <p:pic>
        <p:nvPicPr>
          <p:cNvPr id="3" name="2026-10-11 22-59-04">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4681056" y="1484853"/>
            <a:ext cx="6640539" cy="3735303"/>
          </a:xfrm>
          <a:prstGeom prst="rect">
            <a:avLst/>
          </a:prstGeom>
        </p:spPr>
      </p:pic>
      <p:sp>
        <p:nvSpPr>
          <p:cNvPr id="4" name="CuadroTexto 3"/>
          <p:cNvSpPr txBox="1"/>
          <p:nvPr/>
        </p:nvSpPr>
        <p:spPr>
          <a:xfrm>
            <a:off x="1319122" y="838522"/>
            <a:ext cx="3196206" cy="830997"/>
          </a:xfrm>
          <a:prstGeom prst="rect">
            <a:avLst/>
          </a:prstGeom>
          <a:noFill/>
        </p:spPr>
        <p:txBody>
          <a:bodyPr wrap="square" rtlCol="0">
            <a:spAutoFit/>
          </a:bodyPr>
          <a:lstStyle/>
          <a:p>
            <a:r>
              <a:rPr lang="es-ES" sz="2400" dirty="0"/>
              <a:t>Datos en tiempo real</a:t>
            </a:r>
          </a:p>
          <a:p>
            <a:endParaRPr lang="es-ES" sz="2400" dirty="0"/>
          </a:p>
        </p:txBody>
      </p:sp>
      <p:pic>
        <p:nvPicPr>
          <p:cNvPr id="5" name="Imagen 4"/>
          <p:cNvPicPr>
            <a:picLocks noChangeAspect="1"/>
          </p:cNvPicPr>
          <p:nvPr/>
        </p:nvPicPr>
        <p:blipFill>
          <a:blip r:embed="rId5"/>
          <a:stretch>
            <a:fillRect/>
          </a:stretch>
        </p:blipFill>
        <p:spPr>
          <a:xfrm>
            <a:off x="994454" y="1484853"/>
            <a:ext cx="3072713" cy="1761688"/>
          </a:xfrm>
          <a:prstGeom prst="rect">
            <a:avLst/>
          </a:prstGeom>
        </p:spPr>
      </p:pic>
    </p:spTree>
    <p:extLst>
      <p:ext uri="{BB962C8B-B14F-4D97-AF65-F5344CB8AC3E}">
        <p14:creationId xmlns:p14="http://schemas.microsoft.com/office/powerpoint/2010/main" val="3243332573"/>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5"/>
                                        </p:tgtEl>
                                        <p:attrNameLst>
                                          <p:attrName>style.visibility</p:attrName>
                                        </p:attrNameLst>
                                      </p:cBhvr>
                                      <p:to>
                                        <p:strVal val="visible"/>
                                      </p:to>
                                    </p:set>
                                    <p:anim calcmode="lin" valueType="num">
                                      <p:cBhvr>
                                        <p:cTn id="14" dur="500" fill="hold"/>
                                        <p:tgtEl>
                                          <p:spTgt spid="5"/>
                                        </p:tgtEl>
                                        <p:attrNameLst>
                                          <p:attrName>ppt_w</p:attrName>
                                        </p:attrNameLst>
                                      </p:cBhvr>
                                      <p:tavLst>
                                        <p:tav tm="0">
                                          <p:val>
                                            <p:fltVal val="0"/>
                                          </p:val>
                                        </p:tav>
                                        <p:tav tm="100000">
                                          <p:val>
                                            <p:strVal val="#ppt_w"/>
                                          </p:val>
                                        </p:tav>
                                      </p:tavLst>
                                    </p:anim>
                                    <p:anim calcmode="lin" valueType="num">
                                      <p:cBhvr>
                                        <p:cTn id="15" dur="500" fill="hold"/>
                                        <p:tgtEl>
                                          <p:spTgt spid="5"/>
                                        </p:tgtEl>
                                        <p:attrNameLst>
                                          <p:attrName>ppt_h</p:attrName>
                                        </p:attrNameLst>
                                      </p:cBhvr>
                                      <p:tavLst>
                                        <p:tav tm="0">
                                          <p:val>
                                            <p:fltVal val="0"/>
                                          </p:val>
                                        </p:tav>
                                        <p:tav tm="100000">
                                          <p:val>
                                            <p:strVal val="#ppt_h"/>
                                          </p:val>
                                        </p:tav>
                                      </p:tavLst>
                                    </p:anim>
                                    <p:animEffect transition="in" filter="fade">
                                      <p:cBhvr>
                                        <p:cTn id="16" dur="500"/>
                                        <p:tgtEl>
                                          <p:spTgt spid="5"/>
                                        </p:tgtEl>
                                      </p:cBhvr>
                                    </p:animEffect>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gtEl>
                                        <p:attrNameLst>
                                          <p:attrName>style.visibility</p:attrName>
                                        </p:attrNameLst>
                                      </p:cBhvr>
                                      <p:to>
                                        <p:strVal val="visible"/>
                                      </p:to>
                                    </p:set>
                                    <p:animEffect transition="in" filter="fade">
                                      <p:cBhvr>
                                        <p:cTn id="21" dur="1000"/>
                                        <p:tgtEl>
                                          <p:spTgt spid="2"/>
                                        </p:tgtEl>
                                      </p:cBhvr>
                                    </p:animEffect>
                                    <p:anim calcmode="lin" valueType="num">
                                      <p:cBhvr>
                                        <p:cTn id="22" dur="1000" fill="hold"/>
                                        <p:tgtEl>
                                          <p:spTgt spid="2"/>
                                        </p:tgtEl>
                                        <p:attrNameLst>
                                          <p:attrName>ppt_x</p:attrName>
                                        </p:attrNameLst>
                                      </p:cBhvr>
                                      <p:tavLst>
                                        <p:tav tm="0">
                                          <p:val>
                                            <p:strVal val="#ppt_x"/>
                                          </p:val>
                                        </p:tav>
                                        <p:tav tm="100000">
                                          <p:val>
                                            <p:strVal val="#ppt_x"/>
                                          </p:val>
                                        </p:tav>
                                      </p:tavLst>
                                    </p:anim>
                                    <p:anim calcmode="lin" valueType="num">
                                      <p:cBhvr>
                                        <p:cTn id="23"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26" presetClass="emph" presetSubtype="0" fill="hold" nodeType="clickEffect">
                                  <p:stCondLst>
                                    <p:cond delay="0"/>
                                  </p:stCondLst>
                                  <p:childTnLst>
                                    <p:animEffect transition="out" filter="fade">
                                      <p:cBhvr>
                                        <p:cTn id="27" dur="500" tmFilter="0, 0; .2, .5; .8, .5; 1, 0"/>
                                        <p:tgtEl>
                                          <p:spTgt spid="3"/>
                                        </p:tgtEl>
                                      </p:cBhvr>
                                    </p:animEffect>
                                    <p:animScale>
                                      <p:cBhvr>
                                        <p:cTn id="28" dur="250" autoRev="1" fill="hold"/>
                                        <p:tgtEl>
                                          <p:spTgt spid="3"/>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video>
              <p:cMediaNode vol="80000">
                <p:cTn id="29" fill="hold" display="0">
                  <p:stCondLst>
                    <p:cond delay="indefinite"/>
                  </p:stCondLst>
                </p:cTn>
                <p:tgtEl>
                  <p:spTgt spid="3"/>
                </p:tgtEl>
              </p:cMediaNode>
            </p:video>
          </p:childTnLst>
        </p:cTn>
      </p:par>
    </p:tnLst>
    <p:bldLst>
      <p:bldP spid="2" grpId="0"/>
      <p:bldP spid="4"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fontScale="90000"/>
          </a:bodyPr>
          <a:lstStyle/>
          <a:p>
            <a:r>
              <a:rPr lang="es-ES" dirty="0"/>
              <a:t>Tabla comparativa de resultados: </a:t>
            </a:r>
            <a:r>
              <a:rPr lang="es-ES" dirty="0" err="1"/>
              <a:t>teorico</a:t>
            </a:r>
            <a:r>
              <a:rPr lang="es-ES" dirty="0"/>
              <a:t> + Python+ </a:t>
            </a:r>
            <a:r>
              <a:rPr lang="es-ES" dirty="0" err="1"/>
              <a:t>War</a:t>
            </a:r>
            <a:r>
              <a:rPr lang="es-ES" dirty="0"/>
              <a:t> </a:t>
            </a:r>
            <a:r>
              <a:rPr lang="es-ES" dirty="0" err="1"/>
              <a:t>Thunder</a:t>
            </a:r>
            <a:endParaRPr lang="es-ES" dirty="0"/>
          </a:p>
        </p:txBody>
      </p:sp>
      <p:graphicFrame>
        <p:nvGraphicFramePr>
          <p:cNvPr id="4" name="Objeto 3"/>
          <p:cNvGraphicFramePr>
            <a:graphicFrameLocks noChangeAspect="1"/>
          </p:cNvGraphicFramePr>
          <p:nvPr>
            <p:extLst>
              <p:ext uri="{D42A27DB-BD31-4B8C-83A1-F6EECF244321}">
                <p14:modId xmlns:p14="http://schemas.microsoft.com/office/powerpoint/2010/main" val="3728564570"/>
              </p:ext>
            </p:extLst>
          </p:nvPr>
        </p:nvGraphicFramePr>
        <p:xfrm>
          <a:off x="1023938" y="2635250"/>
          <a:ext cx="10431462" cy="2293938"/>
        </p:xfrm>
        <a:graphic>
          <a:graphicData uri="http://schemas.openxmlformats.org/presentationml/2006/ole">
            <mc:AlternateContent xmlns:mc="http://schemas.openxmlformats.org/markup-compatibility/2006">
              <mc:Choice xmlns:v="urn:schemas-microsoft-com:vml" Requires="v">
                <p:oleObj name="Worksheet" r:id="rId2" imgW="10431617" imgH="2293410" progId="Excel.Sheet.12">
                  <p:embed/>
                </p:oleObj>
              </mc:Choice>
              <mc:Fallback>
                <p:oleObj name="Worksheet" r:id="rId2" imgW="10431617" imgH="2293410" progId="Excel.Sheet.12">
                  <p:embed/>
                  <p:pic>
                    <p:nvPicPr>
                      <p:cNvPr id="4" name="Objeto 3"/>
                      <p:cNvPicPr/>
                      <p:nvPr/>
                    </p:nvPicPr>
                    <p:blipFill>
                      <a:blip r:embed="rId3"/>
                      <a:stretch>
                        <a:fillRect/>
                      </a:stretch>
                    </p:blipFill>
                    <p:spPr>
                      <a:xfrm>
                        <a:off x="1023938" y="2635250"/>
                        <a:ext cx="10431462" cy="2293938"/>
                      </a:xfrm>
                      <a:prstGeom prst="rect">
                        <a:avLst/>
                      </a:prstGeom>
                    </p:spPr>
                  </p:pic>
                </p:oleObj>
              </mc:Fallback>
            </mc:AlternateContent>
          </a:graphicData>
        </a:graphic>
      </p:graphicFrame>
    </p:spTree>
    <p:extLst>
      <p:ext uri="{BB962C8B-B14F-4D97-AF65-F5344CB8AC3E}">
        <p14:creationId xmlns:p14="http://schemas.microsoft.com/office/powerpoint/2010/main" val="18364541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2"/>
                                        </p:tgtEl>
                                      </p:cBhvr>
                                    </p:animEffect>
                                    <p:animScale>
                                      <p:cBhvr>
                                        <p:cTn id="7" dur="250" autoRev="1" fill="hold"/>
                                        <p:tgtEl>
                                          <p:spTgt spid="2"/>
                                        </p:tgtEl>
                                      </p:cBhvr>
                                      <p:by x="105000" y="105000"/>
                                    </p:animScale>
                                  </p:childTnLst>
                                </p:cTn>
                              </p:par>
                            </p:childTnLst>
                          </p:cTn>
                        </p:par>
                      </p:childTnLst>
                    </p:cTn>
                  </p:par>
                  <p:par>
                    <p:cTn id="8" fill="hold">
                      <p:stCondLst>
                        <p:cond delay="indefinite"/>
                      </p:stCondLst>
                      <p:childTnLst>
                        <p:par>
                          <p:cTn id="9" fill="hold">
                            <p:stCondLst>
                              <p:cond delay="0"/>
                            </p:stCondLst>
                            <p:childTnLst>
                              <p:par>
                                <p:cTn id="10" presetID="26" presetClass="emph" presetSubtype="0" fill="hold" nodeType="clickEffect">
                                  <p:stCondLst>
                                    <p:cond delay="0"/>
                                  </p:stCondLst>
                                  <p:childTnLst>
                                    <p:animEffect transition="out" filter="fade">
                                      <p:cBhvr>
                                        <p:cTn id="11" dur="500" tmFilter="0, 0; .2, .5; .8, .5; 1, 0"/>
                                        <p:tgtEl>
                                          <p:spTgt spid="4"/>
                                        </p:tgtEl>
                                      </p:cBhvr>
                                    </p:animEffect>
                                    <p:animScale>
                                      <p:cBhvr>
                                        <p:cTn id="12" dur="250" autoRev="1" fill="hold"/>
                                        <p:tgtEl>
                                          <p:spTgt spid="4"/>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t>Análisis de resultados</a:t>
            </a:r>
          </a:p>
        </p:txBody>
      </p:sp>
      <p:sp>
        <p:nvSpPr>
          <p:cNvPr id="3" name="Marcador de contenido 2"/>
          <p:cNvSpPr>
            <a:spLocks noGrp="1"/>
          </p:cNvSpPr>
          <p:nvPr>
            <p:ph idx="1"/>
          </p:nvPr>
        </p:nvSpPr>
        <p:spPr>
          <a:xfrm>
            <a:off x="1181171" y="2533631"/>
            <a:ext cx="9523182" cy="4023360"/>
          </a:xfrm>
        </p:spPr>
        <p:txBody>
          <a:bodyPr>
            <a:normAutofit fontScale="77500" lnSpcReduction="20000"/>
          </a:bodyPr>
          <a:lstStyle/>
          <a:p>
            <a:r>
              <a:rPr lang="es-MX" dirty="0"/>
              <a:t>Se determina que la intercepción del Avión B por parte del misil AIM-120C-5 ocurre a los </a:t>
            </a:r>
            <a:r>
              <a:rPr lang="es-MX" dirty="0" err="1"/>
              <a:t>t_vuelo</a:t>
            </a:r>
            <a:r>
              <a:rPr lang="es-MX" dirty="0"/>
              <a:t> = 10.00 s del misil en la coordenada x = 8250 m, habiendo recorrido una distancia horizontal de 7000 m. La simulación en Python replica de forma exacta los cálculos teóricos de posición, confirmando el vuelo en dos etapas (propulsión de 5 s alcanzando 850 m/s y crucero de 5 s) con un margen de error numérico nulo.</a:t>
            </a:r>
          </a:p>
          <a:p>
            <a:r>
              <a:rPr lang="es-MX" dirty="0"/>
              <a:t>Al contrastar el modelo teórico con la telemetría de </a:t>
            </a:r>
            <a:r>
              <a:rPr lang="es-MX" dirty="0" err="1"/>
              <a:t>War</a:t>
            </a:r>
            <a:r>
              <a:rPr lang="es-MX" dirty="0"/>
              <a:t> </a:t>
            </a:r>
            <a:r>
              <a:rPr lang="es-MX" dirty="0" err="1"/>
              <a:t>Thunder</a:t>
            </a:r>
            <a:r>
              <a:rPr lang="es-MX" dirty="0"/>
              <a:t>, se observa una coincidencia casi exacta en la distancia recorrida (7011 m, error del +0.16%) y en el punto de impacto (8236 m, error del -0.17%). El tiempo de vuelo registrado en el simulador (10.19 s) presenta una ligera diferencia del +1.90% respecto al teórico, producto de la resistencia del aire.</a:t>
            </a:r>
          </a:p>
          <a:p>
            <a:r>
              <a:rPr lang="es-MX" dirty="0"/>
              <a:t>La velocidad máxima en </a:t>
            </a:r>
            <a:r>
              <a:rPr lang="es-MX" dirty="0" err="1"/>
              <a:t>War</a:t>
            </a:r>
            <a:r>
              <a:rPr lang="es-MX" dirty="0"/>
              <a:t> </a:t>
            </a:r>
            <a:r>
              <a:rPr lang="es-MX" dirty="0" err="1"/>
              <a:t>Thunder</a:t>
            </a:r>
            <a:r>
              <a:rPr lang="es-MX" dirty="0"/>
              <a:t> (890 m/s frente a 850 m/s teóricos) varía un +4.71% debido a que el juego considera la pérdida de peso del misil al quemar su combustible, lo que aumenta la aceleración al final del disparo. En conclusión, la simulación en Python valida los cálculos realizados y demuestra que el modelo teórico predice la intercepción con más del 98% de precisión.</a:t>
            </a:r>
          </a:p>
          <a:p>
            <a:endParaRPr lang="es-ES" dirty="0"/>
          </a:p>
        </p:txBody>
      </p:sp>
    </p:spTree>
    <p:extLst>
      <p:ext uri="{BB962C8B-B14F-4D97-AF65-F5344CB8AC3E}">
        <p14:creationId xmlns:p14="http://schemas.microsoft.com/office/powerpoint/2010/main" val="2571557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6" presetClass="emph" presetSubtype="0" fill="hold" grpId="0" nodeType="clickEffect">
                                  <p:stCondLst>
                                    <p:cond delay="0"/>
                                  </p:stCondLst>
                                  <p:childTnLst>
                                    <p:animEffect transition="out" filter="fade">
                                      <p:cBhvr>
                                        <p:cTn id="11" dur="500" tmFilter="0, 0; .2, .5; .8, .5; 1, 0"/>
                                        <p:tgtEl>
                                          <p:spTgt spid="3">
                                            <p:txEl>
                                              <p:pRg st="0" end="0"/>
                                            </p:txEl>
                                          </p:spTgt>
                                        </p:tgtEl>
                                      </p:cBhvr>
                                    </p:animEffect>
                                    <p:animScale>
                                      <p:cBhvr>
                                        <p:cTn id="12" dur="250" autoRev="1" fill="hold"/>
                                        <p:tgtEl>
                                          <p:spTgt spid="3">
                                            <p:txEl>
                                              <p:pRg st="0" end="0"/>
                                            </p:txEl>
                                          </p:spTgt>
                                        </p:tgtEl>
                                      </p:cBhvr>
                                      <p:by x="105000" y="105000"/>
                                    </p:animScale>
                                  </p:childTnLst>
                                </p:cTn>
                              </p:par>
                            </p:childTnLst>
                          </p:cTn>
                        </p:par>
                      </p:childTnLst>
                    </p:cTn>
                  </p:par>
                  <p:par>
                    <p:cTn id="13" fill="hold">
                      <p:stCondLst>
                        <p:cond delay="indefinite"/>
                      </p:stCondLst>
                      <p:childTnLst>
                        <p:par>
                          <p:cTn id="14" fill="hold">
                            <p:stCondLst>
                              <p:cond delay="0"/>
                            </p:stCondLst>
                            <p:childTnLst>
                              <p:par>
                                <p:cTn id="15" presetID="26" presetClass="emph" presetSubtype="0" fill="hold" grpId="0" nodeType="clickEffect">
                                  <p:stCondLst>
                                    <p:cond delay="0"/>
                                  </p:stCondLst>
                                  <p:childTnLst>
                                    <p:animEffect transition="out" filter="fade">
                                      <p:cBhvr>
                                        <p:cTn id="16" dur="500" tmFilter="0, 0; .2, .5; .8, .5; 1, 0"/>
                                        <p:tgtEl>
                                          <p:spTgt spid="3">
                                            <p:txEl>
                                              <p:pRg st="1" end="1"/>
                                            </p:txEl>
                                          </p:spTgt>
                                        </p:tgtEl>
                                      </p:cBhvr>
                                    </p:animEffect>
                                    <p:animScale>
                                      <p:cBhvr>
                                        <p:cTn id="17" dur="250" autoRev="1" fill="hold"/>
                                        <p:tgtEl>
                                          <p:spTgt spid="3">
                                            <p:txEl>
                                              <p:pRg st="1" end="1"/>
                                            </p:txEl>
                                          </p:spTgt>
                                        </p:tgtEl>
                                      </p:cBhvr>
                                      <p:by x="105000" y="105000"/>
                                    </p:animScale>
                                  </p:childTnLst>
                                </p:cTn>
                              </p:par>
                            </p:childTnLst>
                          </p:cTn>
                        </p:par>
                      </p:childTnLst>
                    </p:cTn>
                  </p:par>
                  <p:par>
                    <p:cTn id="18" fill="hold">
                      <p:stCondLst>
                        <p:cond delay="indefinite"/>
                      </p:stCondLst>
                      <p:childTnLst>
                        <p:par>
                          <p:cTn id="19" fill="hold">
                            <p:stCondLst>
                              <p:cond delay="0"/>
                            </p:stCondLst>
                            <p:childTnLst>
                              <p:par>
                                <p:cTn id="20" presetID="26" presetClass="emph" presetSubtype="0" fill="hold" grpId="0" nodeType="clickEffect">
                                  <p:stCondLst>
                                    <p:cond delay="0"/>
                                  </p:stCondLst>
                                  <p:childTnLst>
                                    <p:animEffect transition="out" filter="fade">
                                      <p:cBhvr>
                                        <p:cTn id="21" dur="500" tmFilter="0, 0; .2, .5; .8, .5; 1, 0"/>
                                        <p:tgtEl>
                                          <p:spTgt spid="3">
                                            <p:txEl>
                                              <p:pRg st="2" end="2"/>
                                            </p:txEl>
                                          </p:spTgt>
                                        </p:tgtEl>
                                      </p:cBhvr>
                                    </p:animEffect>
                                    <p:animScale>
                                      <p:cBhvr>
                                        <p:cTn id="22" dur="250" autoRev="1" fill="hold"/>
                                        <p:tgtEl>
                                          <p:spTgt spid="3">
                                            <p:txEl>
                                              <p:pRg st="2" end="2"/>
                                            </p:txEl>
                                          </p:spTgt>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t>Conclusiones</a:t>
            </a:r>
          </a:p>
        </p:txBody>
      </p:sp>
      <p:sp>
        <p:nvSpPr>
          <p:cNvPr id="3" name="Marcador de contenido 2"/>
          <p:cNvSpPr>
            <a:spLocks noGrp="1"/>
          </p:cNvSpPr>
          <p:nvPr>
            <p:ph idx="1"/>
          </p:nvPr>
        </p:nvSpPr>
        <p:spPr/>
        <p:txBody>
          <a:bodyPr>
            <a:normAutofit fontScale="85000" lnSpcReduction="10000"/>
          </a:bodyPr>
          <a:lstStyle/>
          <a:p>
            <a:pPr marL="0" indent="0">
              <a:buNone/>
            </a:pPr>
            <a:r>
              <a:rPr lang="es-MX" dirty="0"/>
              <a:t>El análisis permitió determinar que la intercepción del objetivo ocurre a los 10 segundos de vuelo del misil y a una distancia recorrida de 7000 m. La aceleración en la fase propulsada y el vuelo inercial en crucero garantizan el alcance del blanco antes de que este supere la zona de impacto.</a:t>
            </a:r>
          </a:p>
          <a:p>
            <a:r>
              <a:rPr lang="es-MX" dirty="0"/>
              <a:t>Se logró modelar correctamente el movimiento del misil y de ambos aviones.</a:t>
            </a:r>
          </a:p>
          <a:p>
            <a:r>
              <a:rPr lang="es-MX" dirty="0"/>
              <a:t>Los resultados teóricos coinciden con la simulación en Python y </a:t>
            </a:r>
            <a:r>
              <a:rPr lang="es-MX" dirty="0" err="1"/>
              <a:t>War</a:t>
            </a:r>
            <a:r>
              <a:rPr lang="es-MX" dirty="0"/>
              <a:t> </a:t>
            </a:r>
            <a:r>
              <a:rPr lang="es-MX" dirty="0" err="1"/>
              <a:t>Thunder</a:t>
            </a:r>
            <a:r>
              <a:rPr lang="es-MX" dirty="0"/>
              <a:t> (al 98%).</a:t>
            </a:r>
          </a:p>
          <a:p>
            <a:r>
              <a:rPr lang="es-MX" dirty="0"/>
              <a:t>La simulación interactiva facilita la comprensión de la cinemática en dos etapas.</a:t>
            </a:r>
          </a:p>
          <a:p>
            <a:pPr marL="0" indent="0">
              <a:buNone/>
            </a:pPr>
            <a:br>
              <a:rPr lang="es-MX" dirty="0"/>
            </a:br>
            <a:endParaRPr lang="es-ES" dirty="0"/>
          </a:p>
        </p:txBody>
      </p:sp>
    </p:spTree>
    <p:extLst>
      <p:ext uri="{BB962C8B-B14F-4D97-AF65-F5344CB8AC3E}">
        <p14:creationId xmlns:p14="http://schemas.microsoft.com/office/powerpoint/2010/main" val="23015862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6" presetClass="emph" presetSubtype="0" fill="hold" grpId="0" nodeType="clickEffect">
                                  <p:stCondLst>
                                    <p:cond delay="0"/>
                                  </p:stCondLst>
                                  <p:childTnLst>
                                    <p:animEffect transition="out" filter="fade">
                                      <p:cBhvr>
                                        <p:cTn id="11" dur="500" tmFilter="0, 0; .2, .5; .8, .5; 1, 0"/>
                                        <p:tgtEl>
                                          <p:spTgt spid="3">
                                            <p:txEl>
                                              <p:pRg st="0" end="0"/>
                                            </p:txEl>
                                          </p:spTgt>
                                        </p:tgtEl>
                                      </p:cBhvr>
                                    </p:animEffect>
                                    <p:animScale>
                                      <p:cBhvr>
                                        <p:cTn id="12" dur="250" autoRev="1" fill="hold"/>
                                        <p:tgtEl>
                                          <p:spTgt spid="3">
                                            <p:txEl>
                                              <p:pRg st="0" end="0"/>
                                            </p:txEl>
                                          </p:spTgt>
                                        </p:tgtEl>
                                      </p:cBhvr>
                                      <p:by x="105000" y="105000"/>
                                    </p:animScale>
                                  </p:childTnLst>
                                </p:cTn>
                              </p:par>
                            </p:childTnLst>
                          </p:cTn>
                        </p:par>
                      </p:childTnLst>
                    </p:cTn>
                  </p:par>
                  <p:par>
                    <p:cTn id="13" fill="hold">
                      <p:stCondLst>
                        <p:cond delay="indefinite"/>
                      </p:stCondLst>
                      <p:childTnLst>
                        <p:par>
                          <p:cTn id="14" fill="hold">
                            <p:stCondLst>
                              <p:cond delay="0"/>
                            </p:stCondLst>
                            <p:childTnLst>
                              <p:par>
                                <p:cTn id="15" presetID="26" presetClass="emph" presetSubtype="0" fill="hold" grpId="0" nodeType="clickEffect">
                                  <p:stCondLst>
                                    <p:cond delay="0"/>
                                  </p:stCondLst>
                                  <p:childTnLst>
                                    <p:animEffect transition="out" filter="fade">
                                      <p:cBhvr>
                                        <p:cTn id="16" dur="500" tmFilter="0, 0; .2, .5; .8, .5; 1, 0"/>
                                        <p:tgtEl>
                                          <p:spTgt spid="3">
                                            <p:txEl>
                                              <p:pRg st="1" end="1"/>
                                            </p:txEl>
                                          </p:spTgt>
                                        </p:tgtEl>
                                      </p:cBhvr>
                                    </p:animEffect>
                                    <p:animScale>
                                      <p:cBhvr>
                                        <p:cTn id="17" dur="250" autoRev="1" fill="hold"/>
                                        <p:tgtEl>
                                          <p:spTgt spid="3">
                                            <p:txEl>
                                              <p:pRg st="1" end="1"/>
                                            </p:txEl>
                                          </p:spTgt>
                                        </p:tgtEl>
                                      </p:cBhvr>
                                      <p:by x="105000" y="105000"/>
                                    </p:animScale>
                                  </p:childTnLst>
                                </p:cTn>
                              </p:par>
                            </p:childTnLst>
                          </p:cTn>
                        </p:par>
                      </p:childTnLst>
                    </p:cTn>
                  </p:par>
                  <p:par>
                    <p:cTn id="18" fill="hold">
                      <p:stCondLst>
                        <p:cond delay="indefinite"/>
                      </p:stCondLst>
                      <p:childTnLst>
                        <p:par>
                          <p:cTn id="19" fill="hold">
                            <p:stCondLst>
                              <p:cond delay="0"/>
                            </p:stCondLst>
                            <p:childTnLst>
                              <p:par>
                                <p:cTn id="20" presetID="26" presetClass="emph" presetSubtype="0" fill="hold" grpId="0" nodeType="clickEffect">
                                  <p:stCondLst>
                                    <p:cond delay="0"/>
                                  </p:stCondLst>
                                  <p:childTnLst>
                                    <p:animEffect transition="out" filter="fade">
                                      <p:cBhvr>
                                        <p:cTn id="21" dur="500" tmFilter="0, 0; .2, .5; .8, .5; 1, 0"/>
                                        <p:tgtEl>
                                          <p:spTgt spid="3">
                                            <p:txEl>
                                              <p:pRg st="2" end="2"/>
                                            </p:txEl>
                                          </p:spTgt>
                                        </p:tgtEl>
                                      </p:cBhvr>
                                    </p:animEffect>
                                    <p:animScale>
                                      <p:cBhvr>
                                        <p:cTn id="22" dur="250" autoRev="1" fill="hold"/>
                                        <p:tgtEl>
                                          <p:spTgt spid="3">
                                            <p:txEl>
                                              <p:pRg st="2" end="2"/>
                                            </p:txEl>
                                          </p:spTgt>
                                        </p:tgtEl>
                                      </p:cBhvr>
                                      <p:by x="105000" y="105000"/>
                                    </p:animScale>
                                  </p:childTnLst>
                                </p:cTn>
                              </p:par>
                            </p:childTnLst>
                          </p:cTn>
                        </p:par>
                      </p:childTnLst>
                    </p:cTn>
                  </p:par>
                  <p:par>
                    <p:cTn id="23" fill="hold">
                      <p:stCondLst>
                        <p:cond delay="indefinite"/>
                      </p:stCondLst>
                      <p:childTnLst>
                        <p:par>
                          <p:cTn id="24" fill="hold">
                            <p:stCondLst>
                              <p:cond delay="0"/>
                            </p:stCondLst>
                            <p:childTnLst>
                              <p:par>
                                <p:cTn id="25" presetID="26" presetClass="emph" presetSubtype="0" fill="hold" grpId="0" nodeType="clickEffect">
                                  <p:stCondLst>
                                    <p:cond delay="0"/>
                                  </p:stCondLst>
                                  <p:childTnLst>
                                    <p:animEffect transition="out" filter="fade">
                                      <p:cBhvr>
                                        <p:cTn id="26" dur="500" tmFilter="0, 0; .2, .5; .8, .5; 1, 0"/>
                                        <p:tgtEl>
                                          <p:spTgt spid="3">
                                            <p:txEl>
                                              <p:pRg st="3" end="3"/>
                                            </p:txEl>
                                          </p:spTgt>
                                        </p:tgtEl>
                                      </p:cBhvr>
                                    </p:animEffect>
                                    <p:animScale>
                                      <p:cBhvr>
                                        <p:cTn id="27" dur="250" autoRev="1" fill="hold"/>
                                        <p:tgtEl>
                                          <p:spTgt spid="3">
                                            <p:txEl>
                                              <p:pRg st="3" end="3"/>
                                            </p:txEl>
                                          </p:spTgt>
                                        </p:tgtEl>
                                      </p:cBhvr>
                                      <p:by x="105000" y="105000"/>
                                    </p:animScale>
                                  </p:childTnLst>
                                </p:cTn>
                              </p:par>
                            </p:childTnLst>
                          </p:cTn>
                        </p:par>
                      </p:childTnLst>
                    </p:cTn>
                  </p:par>
                  <p:par>
                    <p:cTn id="28" fill="hold">
                      <p:stCondLst>
                        <p:cond delay="indefinite"/>
                      </p:stCondLst>
                      <p:childTnLst>
                        <p:par>
                          <p:cTn id="29" fill="hold">
                            <p:stCondLst>
                              <p:cond delay="0"/>
                            </p:stCondLst>
                            <p:childTnLst>
                              <p:par>
                                <p:cTn id="30" presetID="26" presetClass="emph" presetSubtype="0" fill="hold" grpId="0" nodeType="clickEffect">
                                  <p:stCondLst>
                                    <p:cond delay="0"/>
                                  </p:stCondLst>
                                  <p:childTnLst>
                                    <p:animEffect transition="out" filter="fade">
                                      <p:cBhvr>
                                        <p:cTn id="31" dur="500" tmFilter="0, 0; .2, .5; .8, .5; 1, 0"/>
                                        <p:tgtEl>
                                          <p:spTgt spid="3">
                                            <p:txEl>
                                              <p:pRg st="4" end="4"/>
                                            </p:txEl>
                                          </p:spTgt>
                                        </p:tgtEl>
                                      </p:cBhvr>
                                    </p:animEffect>
                                    <p:animScale>
                                      <p:cBhvr>
                                        <p:cTn id="32" dur="250" autoRev="1" fill="hold"/>
                                        <p:tgtEl>
                                          <p:spTgt spid="3">
                                            <p:txEl>
                                              <p:pRg st="4" end="4"/>
                                            </p:txEl>
                                          </p:spTgt>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ánico">
  <a:themeElements>
    <a:clrScheme name="Orgánico">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ánico">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ánico">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docProps/app.xml><?xml version="1.0" encoding="utf-8"?>
<Properties xmlns="http://schemas.openxmlformats.org/officeDocument/2006/extended-properties" xmlns:vt="http://schemas.openxmlformats.org/officeDocument/2006/docPropsVTypes">
  <Template>Organic</Template>
  <TotalTime>622</TotalTime>
  <Words>1197</Words>
  <Application>Microsoft Office PowerPoint</Application>
  <PresentationFormat>Panorámica</PresentationFormat>
  <Paragraphs>110</Paragraphs>
  <Slides>32</Slides>
  <Notes>0</Notes>
  <HiddenSlides>0</HiddenSlides>
  <MMClips>3</MMClips>
  <ScaleCrop>false</ScaleCrop>
  <HeadingPairs>
    <vt:vector size="8" baseType="variant">
      <vt:variant>
        <vt:lpstr>Fuentes usadas</vt:lpstr>
      </vt:variant>
      <vt:variant>
        <vt:i4>2</vt:i4>
      </vt:variant>
      <vt:variant>
        <vt:lpstr>Tema</vt:lpstr>
      </vt:variant>
      <vt:variant>
        <vt:i4>1</vt:i4>
      </vt:variant>
      <vt:variant>
        <vt:lpstr>Servidores OLE incrustados</vt:lpstr>
      </vt:variant>
      <vt:variant>
        <vt:i4>1</vt:i4>
      </vt:variant>
      <vt:variant>
        <vt:lpstr>Títulos de diapositiva</vt:lpstr>
      </vt:variant>
      <vt:variant>
        <vt:i4>32</vt:i4>
      </vt:variant>
    </vt:vector>
  </HeadingPairs>
  <TitlesOfParts>
    <vt:vector size="36" baseType="lpstr">
      <vt:lpstr>Arial</vt:lpstr>
      <vt:lpstr>Garamond</vt:lpstr>
      <vt:lpstr>Orgánico</vt:lpstr>
      <vt:lpstr>Worksheet</vt:lpstr>
      <vt:lpstr>Proyecto de simulación cinemática </vt:lpstr>
      <vt:lpstr>Integrantes del grupo</vt:lpstr>
      <vt:lpstr>Tabla de Contenido</vt:lpstr>
      <vt:lpstr>Objetivos</vt:lpstr>
      <vt:lpstr>Introducción</vt:lpstr>
      <vt:lpstr>Cinemática</vt:lpstr>
      <vt:lpstr>Movimiento Rectilíneo Uniforme (MRU)</vt:lpstr>
      <vt:lpstr>Movimiento Rectilíneo Uniformemente Acelerado(MRUA)</vt:lpstr>
      <vt:lpstr>Planteamiento del problema</vt:lpstr>
      <vt:lpstr>Intercepción aérea bidimensional</vt:lpstr>
      <vt:lpstr>Puntos a encontrar</vt:lpstr>
      <vt:lpstr>Resolución del problema</vt:lpstr>
      <vt:lpstr>Normalización de Unidades (Velocidad)</vt:lpstr>
      <vt:lpstr>Fase 1 – Retardo Radar (t = 5.0 s) y Separación al momento del Disparo</vt:lpstr>
      <vt:lpstr>Presentación de PowerPoint</vt:lpstr>
      <vt:lpstr>FASE 2: Velocidad Máxima del Misil (MRUA)</vt:lpstr>
      <vt:lpstr>Presentación de PowerPoint</vt:lpstr>
      <vt:lpstr>Fase 3- Velocidad Relativa y Tiempo de Crucero</vt:lpstr>
      <vt:lpstr>Resultados</vt:lpstr>
      <vt:lpstr>Herramientas Utilizadas</vt:lpstr>
      <vt:lpstr>Presentación de PowerPoint</vt:lpstr>
      <vt:lpstr>SIMULACION</vt:lpstr>
      <vt:lpstr>Presentación de PowerPoint</vt:lpstr>
      <vt:lpstr>Presentación de PowerPoint</vt:lpstr>
      <vt:lpstr>Presentación de PowerPoint</vt:lpstr>
      <vt:lpstr>Presentación de PowerPoint</vt:lpstr>
      <vt:lpstr>Presentación de PowerPoint</vt:lpstr>
      <vt:lpstr>Simulación en War thunder</vt:lpstr>
      <vt:lpstr>Presentación de PowerPoint</vt:lpstr>
      <vt:lpstr>Tabla comparativa de resultados: teorico + Python+ War Thunder</vt:lpstr>
      <vt:lpstr>Análisis de resultados</vt:lpstr>
      <vt:lpstr>Conclusiones</vt:lpstr>
    </vt:vector>
  </TitlesOfParts>
  <Company>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Proyecto de simulación cinematica</dc:title>
  <dc:creator>user</dc:creator>
  <cp:lastModifiedBy>Juan Gabriel Saavedra Veliz</cp:lastModifiedBy>
  <cp:revision>56</cp:revision>
  <dcterms:created xsi:type="dcterms:W3CDTF">2026-10-11T23:06:42Z</dcterms:created>
  <dcterms:modified xsi:type="dcterms:W3CDTF">2026-10-13T09:57:32Z</dcterms:modified>
</cp:coreProperties>
</file>